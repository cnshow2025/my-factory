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本報告所有數字來自同一個校準過的模擬模型，情境之間只改變單一變數，因此差異可直接歸因。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所有數字來自同一模型、同一組 20 個模擬日，情境之間只改變指定變數。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每台機每天：測試 622 分、改機 332 分、維修 186 分、等工程師 76 分、閒置 224 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當機率減半只多 5.3 萬顆：維修工時 186→80 分，但省下的工程師有一部分被排程拿去多改機（每台改機 332→371 分），屬於資源再分配效果。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這是本報告中投資報酬率最高的一項：不花錢、今天就能改。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省改機與加權綜合都把逾期壓在 4 批上下，是僅有的兼顧產出與交期的法則；省改機高 1.5%，規則也最簡單，第一步用它。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每台機每天需要 518 分鐘的工程師工時（改機 332 + 維修 186），25 台合計 9.0 人的純工作量，加上排隊緩衝需 10 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改機變便宜後排程更常換機種，反而打散交期——這是「局部改善未必全域最佳」的典型例子。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A→E 累積 +88.0 萬顆／日（+139%）。B +49.0 萬、C +21.5 萬、D +9.2 萬、E +8.3 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這是模擬產生的 200 批 WIP，結構比照現場：5 種封裝、8 種程式、小中大批 60/30/10。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人時省改機的等工程師時間是 50 分、加權綜合 254 分，其他法則是 9,000~11,000 分；加上當機後（10 次平均），3 人除了省改機 14.5 h 與加權綜合 18.8 h，全部拖到 44~50 小時。加權綜合在 3／5／10 人下都是 10.2~10.3 h，是三種人力裡最穩的一個。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台機時瓶頸是改機排隊，所以省改機贏；25 台機時機台過剩、瓶頸變成有沒有把大批塞進 8-site 快機。重新對齊後所有法則的等工程師時間都是 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門檻的實際分界在 26.7% 與 28.2% 之間。配對派工把改機的浪費壓低了（同一組情境的改機占比從 35% 掉到 28%），所以門檻跟著下修；兩側離門檻越遠，兩種法則差距越大。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重點不是哪一格數字，而是治具套數和機台數、人力一樣會決定該用哪一種排程法則。請提供實際 Kit 套數後重跑本頁。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前兩項是純管理決策，今天就能改；第三項是人力預算；第四項需要 IT 或設備工程投入。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四個階段刻意分開，避免同時變動多個變數而無法歸因。最大的單一不確定性是換程式是否佔用工程師。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MYFACTORY 排程模擬 · 25 台測試機產線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測試排程分析報告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以離散事件模擬量化影響產出的所有因素，比較七種排程法則，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並提出可落地的排程與資源配置建議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資料來源：MyFactory 模擬器（已用現場三項實測數據校準）　|　每組情境 20 個獨立模擬日取平均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結論摘要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把典型現行做法換成建議做法，模擬顯示每日良品可以翻倍以上——而且前兩項不花錢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+139%</a:t>
            </a:r>
            <a:endParaRPr lang="en-US" sz="31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每日良品提升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萬 → 151 萬顆／日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65576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83864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236 → 2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3483864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每日逾期批數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交期表現同步改善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64224" y="1481328"/>
            <a:ext cx="274320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82512" y="1645920"/>
            <a:ext cx="2706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 → 1%</a:t>
            </a:r>
            <a:endParaRPr lang="en-US" sz="31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267712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機台等工程師占比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2542032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同樣人力、排程改變後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62872" y="1481328"/>
            <a:ext cx="2331720" cy="1481328"/>
          </a:xfrm>
          <a:prstGeom prst="roundRect">
            <a:avLst>
              <a:gd name="adj" fmla="val 3704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645920"/>
            <a:ext cx="2295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: 2.5</a:t>
            </a:r>
            <a:endParaRPr lang="en-US" sz="31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267712"/>
            <a:ext cx="2295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建議人機比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台配 10 位工程師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5541264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60704" y="3401568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不花錢就能拿到的效益（前兩項）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3758184"/>
            <a:ext cx="4809744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排程法則改為「省改機優先」：+49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取消預先派工，機台做完當下才決定：+21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+70 萬顆／日（+111%），逾期批數 236 → 30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3246120"/>
            <a:ext cx="5230368" cy="2148840"/>
          </a:xfrm>
          <a:prstGeom prst="roundRect">
            <a:avLst>
              <a:gd name="adj" fmla="val 212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01968" y="350215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0" y="3401568"/>
            <a:ext cx="4498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需要投入的效益（後兩項）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3758184"/>
            <a:ext cx="4498848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人：+9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換程式時間 30→15 分：+8 萬顆／日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兩項合計 +17 萬顆／日，並把逾期壓到 2 批以下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5632704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情境定義　典型現行做法 ＝ 最早交期排序 ＋ 預先押一批 ＋ 8 位工程師　|　建議做法 ＝ 省改機排序 ＋ 即時派工 ＋ 10 位工程師 ＋ 換程式 15 分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016752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每組情境皆為 20 個獨立模擬日的平均；情境之間僅改變指定變數，其餘參數完全相同。全報告的派工採「Lot × 機台配對」（空機接一批之前先比各台的預計完工）。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模型與校準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模型不是假設出來的：用現場三項實測值反推參數，三項同時對上才開始分析。右圖是校準後的基準情境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00200"/>
                <a:gridCol w="1417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校準項目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現場實測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模型產出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結果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全廠每日換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約 50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 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當機次數 ÷ 換 Kit 次數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 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機隊等效 site 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5×8 + 10×4 + 10×2 = 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100（平均 4）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2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246120"/>
            <a:ext cx="667512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350215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340156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模型參數（校準後）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3758184"/>
            <a:ext cx="594360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台測試機：5 台 8 site、10 台 4 site、10 台 2 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批量結構：小批 0.5–2k 占 60%、中批 2–10k 占 30%、大批 10–25k 占 10%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 分、換程式 30 分、良率 80–99%、RT 門檻 99/98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當機率 13.5%／機時、修復 10–120 分、一天 24 小時三班</a:t>
            </a:r>
            <a:endParaRPr lang="en-US" sz="1200" dirty="0"/>
          </a:p>
        </p:txBody>
      </p:sp>
      <p:pic>
        <p:nvPicPr>
          <p:cNvPr id="10" name="Image 0" descr="charts/c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17320"/>
            <a:ext cx="4206240" cy="3011987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06640" y="4553712"/>
            <a:ext cx="420624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644384" y="4809744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00416" y="470916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瓶頸一眼可見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7900416" y="5065776"/>
            <a:ext cx="34747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真正在測試的時間只有 43.2%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 + 維修 + 等工程師 = 41.3%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這三項全部繞著「工程師」轉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62179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右圖是基準情境（已採用省改機＋即時派工＋10 人）；現場典型做法的稼動只有 24.2%，見第 9 頁的起點 A。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66928" y="5614416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校準旋鈕是「彈性機台數」與「當機率」：配對派工本來就少換 Kit，5 台彈性機只剩 35 次／日，調成 8 台彈性＋17 台專用、當機率 13.5%／機時後三項同時對上。時間結構為 25 台機 × 1440 分鐘的合計分配，取 20 個模擬日平均。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影響產出的因素排序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同一組機台與人力，只改變單一因素造成的每日良品差距（單位：萬顆）</a:t>
            </a:r>
            <a:endParaRPr lang="en-US" sz="1350" dirty="0"/>
          </a:p>
        </p:txBody>
      </p:sp>
      <p:pic>
        <p:nvPicPr>
          <p:cNvPr id="5" name="Image 0" descr="charts/c_fac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11018520" cy="43172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760720"/>
            <a:ext cx="11018520" cy="932688"/>
          </a:xfrm>
          <a:prstGeom prst="roundRect">
            <a:avLst>
              <a:gd name="adj" fmla="val 4902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60167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91616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讀這張圖的方式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272784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人力與排程法則各約 64 萬，是其他四項的 4～12 倍；派工時機、專用化、法則三項是不花錢的排程／配置決策；換程式與當機率是工程改善，各 5～8 萬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因素一：派工時機（不花錢的槓桿）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「預約深度」＝ 提前把幾批貨綁定到機台上排隊</a:t>
            </a:r>
            <a:endParaRPr lang="en-US" sz="1350" dirty="0"/>
          </a:p>
        </p:txBody>
      </p:sp>
      <p:pic>
        <p:nvPicPr>
          <p:cNvPr id="5" name="Image 0" descr="charts/c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7320"/>
            <a:ext cx="5394960" cy="3863201"/>
          </a:xfrm>
          <a:prstGeom prst="rect">
            <a:avLst/>
          </a:prstGeom>
        </p:spPr>
      </p:pic>
      <p:pic>
        <p:nvPicPr>
          <p:cNvPr id="6" name="Image 1" descr="charts/c_l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7064" y="1417320"/>
            <a:ext cx="5394960" cy="3863201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394960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6509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550408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機制：提前綁定 ＝ 用舊資訊做決策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907024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後來的急件、突發當機、良率變化都還沒發生，而被綁住的批已經不能改派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押 1 批 vs 做完才派：每日良品少 15.0 萬顆（−10%），逾期由 3.5 批升到 55 批；押 2～3 批也差不多——當機機台的待接批會退回重派，不會越押越糟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因素二：排程法則比較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同樣 25 台機、同樣 10 位工程師、同樣的貨，只改變「先做哪一批」的規則</a:t>
            </a:r>
            <a:endParaRPr lang="en-US" sz="1350" dirty="0"/>
          </a:p>
        </p:txBody>
      </p:sp>
      <p:pic>
        <p:nvPicPr>
          <p:cNvPr id="5" name="Image 0" descr="charts/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949440" cy="44328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37160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64424" y="162763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0456" y="152704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為什麼「省改機」贏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0456" y="188366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改機佔用工程師，工程師是瓶頸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少改機 → 工程師被釋放 → 其他機台少等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49 次 vs 最差法則 75 次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26680" y="3154680"/>
            <a:ext cx="3858768" cy="1645920"/>
          </a:xfrm>
          <a:prstGeom prst="roundRect">
            <a:avLst>
              <a:gd name="adj" fmla="val 277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64424" y="34107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0456" y="331012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同時贏產出與交期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8220456" y="3666744"/>
            <a:ext cx="312724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省改機逾期 3.5 批／日，加權綜合 4.1 批緊追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兩者是僅有的兼顧產出與交期的法則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其餘五種逾期 43～122 批，都得取捨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726680" y="4937760"/>
            <a:ext cx="3858768" cy="1051560"/>
          </a:xfrm>
          <a:prstGeom prst="roundRect">
            <a:avLst>
              <a:gd name="adj" fmla="val 434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64424" y="519379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0456" y="5093208"/>
            <a:ext cx="3127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例外：排名會翻轉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8220456" y="5449824"/>
            <a:ext cx="31272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機台或人力寬裕時改用「大批給快機」更快，判斷方式見第 13 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053328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最佳與最差差距 63.6 萬顆／日（+80%）；七種法則皆在相同的 20 個模擬日上比較。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因素三：工程師人力與人機比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改機與維修都要佔用一位工程師；人不足時機台就停著等</a:t>
            </a:r>
            <a:endParaRPr lang="en-US" sz="1350" dirty="0"/>
          </a:p>
        </p:txBody>
      </p:sp>
      <p:pic>
        <p:nvPicPr>
          <p:cNvPr id="5" name="Image 0" descr="charts/c_e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846320" cy="3470333"/>
          </a:xfrm>
          <a:prstGeom prst="rect">
            <a:avLst/>
          </a:prstGeom>
        </p:spPr>
      </p:pic>
      <p:pic>
        <p:nvPicPr>
          <p:cNvPr id="6" name="Image 1" descr="charts/c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8" y="1353312"/>
            <a:ext cx="5577840" cy="371286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157216"/>
            <a:ext cx="548640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413248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31266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本廠建議值：10 人（1:2.5）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669280"/>
            <a:ext cx="4754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人是拐點，再加人只多 1.5%（13 人）～3.8%（17 人）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降到 8 人：停等 16.0%、逾期由 3.5 批升到 30 批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157216"/>
            <a:ext cx="5413248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413248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31266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跨規模通用的管理規則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669280"/>
            <a:ext cx="46817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 以內損失不到 4%；1:4 起 25 台掉 19%、1:6 掉六成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1:8 以上系統性崩塌 → 50 台至少要 13 人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64224"/>
            <a:ext cx="11018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右圖各規模的到貨量與開局在製依機台數等比例放大，使每台機負載一致；縱軸以各規模自身 1:1 的產出為 100% 正規化。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因素四：機台專用化與工程改善槓桿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先看專用化如何削減換 Kit，再比較各項工程改善的實際效益</a:t>
            </a:r>
            <a:endParaRPr lang="en-US" sz="1350" dirty="0"/>
          </a:p>
        </p:txBody>
      </p:sp>
      <p:pic>
        <p:nvPicPr>
          <p:cNvPr id="5" name="Image 0" descr="charts/c_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312"/>
            <a:ext cx="4572000" cy="3477864"/>
          </a:xfrm>
          <a:prstGeom prst="rect">
            <a:avLst/>
          </a:prstGeom>
        </p:spPr>
      </p:pic>
      <p:pic>
        <p:nvPicPr>
          <p:cNvPr id="6" name="Image 1" descr="charts/c_le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53312"/>
            <a:ext cx="5623560" cy="352353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983480"/>
            <a:ext cx="5486400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239512"/>
            <a:ext cx="146304" cy="14630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138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彈性機的「台數」已接近最佳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49554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台彈性機扛下所有換 Kit，現況 49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完全專用再省 96 分／台／日，但急單無處插隊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專用機「各綁哪一種封裝」是另一回事，見第 12 頁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983480"/>
            <a:ext cx="5413248" cy="1627632"/>
          </a:xfrm>
          <a:prstGeom prst="roundRect">
            <a:avLst>
              <a:gd name="adj" fmla="val 280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2395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13892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槓桿：換程式才是大宗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495544"/>
            <a:ext cx="46817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 185 次／日 vs 換 Kit 49 次／日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30→15 分是單項效益最大（+8.3 萬），產出／工時／交期同時改善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 Kit 60→30 分反使逾期由 3.5 升到 11.4 批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累積效益路徑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從典型現行做法開始，依序加入四項建議，每一步的實際模擬結果</a:t>
            </a:r>
            <a:endParaRPr lang="en-US" sz="1350" dirty="0"/>
          </a:p>
        </p:txBody>
      </p:sp>
      <p:pic>
        <p:nvPicPr>
          <p:cNvPr id="5" name="Image 0" descr="charts/c_c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10424160" cy="408438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513832"/>
            <a:ext cx="11018520" cy="1170432"/>
          </a:xfrm>
          <a:prstGeom prst="roundRect">
            <a:avLst>
              <a:gd name="adj" fmla="val 390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769864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669280"/>
            <a:ext cx="10287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效益集中在前兩步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6025896"/>
            <a:ext cx="10287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起點 A：稼動 24.2%、逾期 236 批／日　→　終點 E：稼動 43.3%、逾期 1.8 批／日、等工程師 1.2%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與 C 合計 +70 萬顆／日，占全部提升的 80%，且完全不需要增加人力或設備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實測案例：清空 200 批 WIP 要多久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把待測清單直接餵進模型，跑到最後一批做完為止——問的不再是「一天做多少」，而是「這堆貨要多久清光」</a:t>
            </a:r>
            <a:endParaRPr lang="en-US" sz="1350" dirty="0"/>
          </a:p>
        </p:txBody>
      </p:sp>
      <p:pic>
        <p:nvPicPr>
          <p:cNvPr id="5" name="Image 0" descr="charts/c_cl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6858000" cy="2500091"/>
          </a:xfrm>
          <a:prstGeom prst="rect">
            <a:avLst/>
          </a:prstGeom>
        </p:spPr>
      </p:pic>
      <p:pic>
        <p:nvPicPr>
          <p:cNvPr id="6" name="Image 1" descr="charts/c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088" y="1371600"/>
            <a:ext cx="4059936" cy="2702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206240"/>
            <a:ext cx="5486400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4462272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36168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這批貨的基本盤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4718304"/>
            <a:ext cx="475488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批・66.2 萬顆・25 台機（機隊 100 site）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理論最短 4 小時 01 分（零改機零當機）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最快的法則 9 小時 18 分，仍比下限多 132%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最快與最慢差 9 小時 38 分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206240"/>
            <a:ext cx="5413248" cy="1828800"/>
          </a:xfrm>
          <a:prstGeom prst="roundRect">
            <a:avLst>
              <a:gd name="adj" fmla="val 2500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446227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361688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完成曲線看得出尾巴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4718304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省改機前 3 小時就做完 139 批，遙遙領先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 9 小時後停在 198 批，最後 2 批拖到 12.4 小時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大批給快機起步慢，卻 9.3 小時最早清光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加權綜合起步快、10.2 小時清光，兩頭兼顧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126480"/>
            <a:ext cx="11018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情境為「純排程比較」：關閉當機與良率波動，同一批貨每次跑結果完全相同，法則之間的差異純粹來自排程順序。第 10～14 頁的派工採「Lot × 機台配對」：空機接一批之前先比各台的預計完工，留給更快做完的那台。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人力改變了最佳排程法則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同一批貨、同一組機台，只改工程師人數，冠軍法則就換人做——這是前面所有結論的邊界條件</a:t>
            </a:r>
            <a:endParaRPr lang="en-US" sz="1350" dirty="0"/>
          </a:p>
        </p:txBody>
      </p:sp>
      <p:pic>
        <p:nvPicPr>
          <p:cNvPr id="5" name="Image 0" descr="charts/c_engp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5394960" cy="3591134"/>
          </a:xfrm>
          <a:prstGeom prst="rect">
            <a:avLst/>
          </a:prstGeom>
        </p:spPr>
      </p:pic>
      <p:pic>
        <p:nvPicPr>
          <p:cNvPr id="6" name="Image 1" descr="charts/c_froz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35024"/>
            <a:ext cx="5029200" cy="360128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5047488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30352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202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交叉點在 3～5 人之間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559552"/>
            <a:ext cx="47548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人：省改機 12.4 h 勝出，大批給快機要 18.0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人起大批給快機反超：11.1 h；10 人 9.3 h 對 12.4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人少 → 改機排隊；人多 → 閒機排隊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5047488"/>
            <a:ext cx="5413248" cy="1600200"/>
          </a:xfrm>
          <a:prstGeom prst="roundRect">
            <a:avLst>
              <a:gd name="adj" fmla="val 2857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303520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2029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為什麼省改機在人多時會輸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559552"/>
            <a:ext cx="46817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不換 Kit ＝ 把機台配置凍結在現況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 200 批裡 QFN32 佔 38.6% 工時，卻只有 22/100 site 裝著它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光這一種封裝就要 7 小時，其他機台只能閒著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機隊規模與專用機配置也會換掉答案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 90 批 WIP，把 5 台機換成真實的 25 台機隊（機隊 100 site、10 位工程師）重跑一次</a:t>
            </a:r>
            <a:endParaRPr lang="en-US" sz="1350" dirty="0"/>
          </a:p>
        </p:txBody>
      </p:sp>
      <p:pic>
        <p:nvPicPr>
          <p:cNvPr id="5" name="Image 0" descr="charts/c_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5029200" cy="3455545"/>
          </a:xfrm>
          <a:prstGeom prst="rect">
            <a:avLst/>
          </a:prstGeom>
        </p:spPr>
      </p:pic>
      <p:pic>
        <p:nvPicPr>
          <p:cNvPr id="6" name="Image 1" descr="charts/c_rem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316736"/>
            <a:ext cx="5029200" cy="345554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84632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10235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5001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機台越多，省改機越不是答案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35838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台機：省改機 14.6 h 勝，大批給快機 29.4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台機：大批給快機 6.5 h，省改機退到 16.9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機台少 → 改機排隊；機台多 → 快機沒用滿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84632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102352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50017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配置對齊買到的是容錯，不是速度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35838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最佳法則幾乎沒變：6.5 h → 6.6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最差法則大幅改善：16.9 h → 12.9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選錯法則的代價從 10.5 h 降到 6.3 h，等工程師歸零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382512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這批 WIP 的 QFN32 佔 46.5% 工時，現場卻只有 5 台專用機（22 site）裝著它，QFN48 反而有 8 台（40 site）——配置和貨量是反的。「重新對齊」＝ 機台數與 site 結構完全不動，只改 20 台專用機各自綁哪一種封裝。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什麼時候該切換排程法則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四次翻轉放在同一把尺上量：改機與等工程師合計吃掉多少機台時間，門檻落在 27% 附近</a:t>
            </a:r>
            <a:endParaRPr lang="en-US" sz="1350" dirty="0"/>
          </a:p>
        </p:txBody>
      </p:sp>
      <p:pic>
        <p:nvPicPr>
          <p:cNvPr id="5" name="Image 0" descr="charts/c_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243584"/>
            <a:ext cx="8961120" cy="38046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5138928"/>
            <a:ext cx="5486400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" y="5394960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0704" y="529437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怎麼量（用現場的實績，不用模擬）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60704" y="565099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（改機分鐘 ＋ 等工程師分鐘）÷（機台數 × 當班分鐘）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用「切換前」的排程量一次就好，現場稼動報表就有這兩欄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172200" y="5138928"/>
            <a:ext cx="5449824" cy="1261872"/>
          </a:xfrm>
          <a:prstGeom prst="roundRect">
            <a:avLst>
              <a:gd name="adj" fmla="val 3623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9944" y="5394960"/>
            <a:ext cx="146304" cy="146304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65976" y="5294376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怎麼判斷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665976" y="5650992"/>
            <a:ext cx="47183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＞28% 省改機優先；＜27% 大批給快機，11 組全對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25～30% 先用加權綜合（10 組裡 5 組最快、8 組前三）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6437376"/>
            <a:ext cx="110550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兩項要合計才準：5 台機那三組是改機吃掉 28～29%（等人只有 0～1%），25 台機 200 批 3 人那組反過來是等人吃掉 32%（改機只有 10%）——只看一項會判錯。② 全部以現行的「追交期」排程量測。③ 切換到省改機之後這個數字會自己掉下來（45.1% → 28.4%），那是措施生效，不是要你切回去。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治具（Kit）套數會換掉冠軍法則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 200 批 WIP、同一組 25 台機、同樣 10 位工程師，只改變「每種封裝有幾套治具」（本頁套數為假設值，見註）</a:t>
            </a:r>
            <a:endParaRPr lang="en-US" sz="1350" dirty="0"/>
          </a:p>
        </p:txBody>
      </p:sp>
      <p:pic>
        <p:nvPicPr>
          <p:cNvPr id="5" name="Image 0" descr="charts/c_k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80160"/>
            <a:ext cx="5029200" cy="3347667"/>
          </a:xfrm>
          <a:prstGeom prst="rect">
            <a:avLst/>
          </a:prstGeom>
        </p:spPr>
      </p:pic>
      <p:pic>
        <p:nvPicPr>
          <p:cNvPr id="6" name="Image 1" descr="charts/c_kitdel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1280160"/>
            <a:ext cx="5029200" cy="315112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754880"/>
            <a:ext cx="5486400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04672" y="5010912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060704" y="49103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治具一變少，冠軍就換人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1060704" y="5266944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不限量：大批給快機 9.3 h 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沒有備品：省改機 10.1 h 反而最快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每種 2 套：七種法則全落到 18～32 h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54880"/>
            <a:ext cx="5449824" cy="1481328"/>
          </a:xfrm>
          <a:prstGeom prst="roundRect">
            <a:avLst>
              <a:gd name="adj" fmla="val 3086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9944" y="5010912"/>
            <a:ext cx="146304" cy="146304"/>
          </a:xfrm>
          <a:prstGeom prst="ellipse">
            <a:avLst/>
          </a:prstGeom>
          <a:solidFill>
            <a:srgbClr val="9B1C1C"/>
          </a:solidFill>
          <a:ln w="12700">
            <a:solidFill>
              <a:srgbClr val="9B1C1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665976" y="491032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少一套治具，多數法則多花 3～4 小時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6665976" y="5266944"/>
            <a:ext cx="471830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加權綜合 +3.9 h、FIFO +3.7 h、EDD +3.4 h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等治具 325～785 分：誰先拿到治具決定誰等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省改機反而快 2.3 h：它本來就串同治具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272784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註　① 本頁治具套數是假設值：「沒有備品」＝ 每種封裝的套數剛好等於現在裝著它的機台數，「每種只有 2 套」是壓力測試；要得到可用的結論，請填入實際套數（資料檔「配件」分頁）。② 模型規則：機台閒置、且佇列裡沒有同封裝的貨時，身上的治具可被別台拿走。③ 省改機變快不是因為治具變少——是治具限制逼派工分散到已經裝著該治具的機台：換 Kit 5 次降到 2 次、稼動率 40.8% 升到 46.9%；同一組設定下其他法則多花 3～4 h。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專業建議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依「投入成本 → 效益」排序，前兩項不需任何資本支出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728216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764792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60020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排程法則改為「省改機優先」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1984248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同機種串著跑，工程師被釋放後全廠少等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172821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 萬顆／日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2587752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898648"/>
            <a:ext cx="429768" cy="429768"/>
          </a:xfrm>
          <a:prstGeom prst="ellipse">
            <a:avLst/>
          </a:prstGeom>
          <a:solidFill>
            <a:srgbClr val="0F7B6C"/>
          </a:solidFill>
          <a:ln w="12700">
            <a:solidFill>
              <a:srgbClr val="0F7B6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2935224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27706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派工單不提前開，做完當下才決定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315468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取消預先押批，改為即時派工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8986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7B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萬顆／日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66928" y="3758184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069080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4105656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941064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工程師由 8 人補至 10 人（1:2.5）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432511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人時有 16.0% 的機台時間在停等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069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 萬顆／日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66928" y="4928616"/>
            <a:ext cx="11018520" cy="1051560"/>
          </a:xfrm>
          <a:prstGeom prst="roundRect">
            <a:avLst>
              <a:gd name="adj" fmla="val 4348"/>
            </a:avLst>
          </a:prstGeom>
          <a:solidFill>
            <a:srgbClr val="17254C"/>
          </a:solidFill>
          <a:ln w="12700">
            <a:solidFill>
              <a:srgbClr val="1725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239512"/>
            <a:ext cx="429768" cy="42976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1248" y="5276088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11149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縮短換程式時間 30→15 分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81328" y="5495544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一天 185 次，槓桿最大的工程改善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523951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 萬顆／日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35040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四項全做：每日良品 63 萬 → 151 萬顆（+139%），逾期批數 236 批 → 2 批以下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11018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但第 1 項有前提：省改機是「改機＋等工程師吃掉機台時間超過 28%」時的最佳解；低於 27% 就該改用「大批給快機」，靠近門檻時用「加權綜合」（見第 13 頁）。班別與機隊狀況不同，規則就該不同。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10896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實施路徑、追蹤指標與模型限制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896112"/>
            <a:ext cx="10424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建議以四週為一個驗證循環，每一步都有可量測的指標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1–2 週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凍結預先派工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95528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改為機台做完才派下一批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95528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追蹤：逾期批數／日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9856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8456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48456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648456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3–4 週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648456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導入省改機排序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648456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 Kit 同程式的批優先串接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48456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追蹤：每台每日改機分鐘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72784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1384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5–8 週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501384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人力補至 10 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01384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或重新分配現有工程師班別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01384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追蹤：等工程師時間占比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5712" y="1417320"/>
            <a:ext cx="2670048" cy="2395728"/>
          </a:xfrm>
          <a:prstGeom prst="roundRect">
            <a:avLst>
              <a:gd name="adj" fmla="val 1908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54312" y="1609344"/>
            <a:ext cx="420624" cy="42062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54312" y="1655064"/>
            <a:ext cx="420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354312" y="213969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週起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354312" y="2414016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換程式標準化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354312" y="279806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程式預載、遠端下載、recipe 統一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354312" y="320040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追蹤：（改機＋等人）÷ 機台時間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3968496"/>
            <a:ext cx="5486400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4672" y="4224528"/>
            <a:ext cx="146304" cy="146304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0704" y="4123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模型尚未納入（避免過度外推）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" y="448056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人員技能差異與交接班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數量限制（治具已納入，見第 14 頁）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物料搬運與 WIP 暫存空間限制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同一機台多產品混測（假設一次一批）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72200" y="3968496"/>
            <a:ext cx="5413248" cy="2157984"/>
          </a:xfrm>
          <a:prstGeom prst="roundRect">
            <a:avLst>
              <a:gd name="adj" fmla="val 2119"/>
            </a:avLst>
          </a:prstGeom>
          <a:solidFill>
            <a:srgbClr val="F5F7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9944" y="4224528"/>
            <a:ext cx="146304" cy="14630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665976" y="4123944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建議補充的現場數據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4480560"/>
            <a:ext cx="46817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Kit 套數（第 14 頁為假設值）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 WIP 清單（第 10~14 頁為模擬資料）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每台機日完成批數（核對稼動率 43.2%）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逾期一批違約成本（現以 20,000 代入）</a:t>
            </a:r>
            <a:endParaRPr lang="en-US" sz="12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換程式是否由工程師執行（若否人力可降 5～6 人）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217920"/>
            <a:ext cx="11018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一句話總結　產出的瓶頸不是機台，是改機與工程師；而排程方式決定了這兩者被浪費多少。　驗證用模擬器：cnshow2025.github.io/my-factory（參數組選「我的工廠」）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測試排程分析報告</dc:title>
  <dc:subject>PptxGenJS Presentation</dc:subject>
  <dc:creator>MyFactory 排程模擬</dc:creator>
  <cp:lastModifiedBy>MyFactory 排程模擬</cp:lastModifiedBy>
  <cp:revision>1</cp:revision>
  <dcterms:created xsi:type="dcterms:W3CDTF">2026-10-04T22:24:38Z</dcterms:created>
  <dcterms:modified xsi:type="dcterms:W3CDTF">2026-10-04T22:24:38Z</dcterms:modified>
</cp:coreProperties>
</file>