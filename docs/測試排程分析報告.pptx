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本報告所有數字來自同一個校準過的模擬模型，情境之間只改變單一變數，因此差異可直接歸因。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所有數字來自同一模型、同一組 20 個模擬日，情境之間只改變指定變數。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每台機每天：測試 673 分、改機 343 分、維修 161 分、等工程師 53 分、閒置 210 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當機率減半呈現負值，是因為工程師被釋放後排程做了更多改機，屬於資源再分配效果。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這是本報告中投資報酬率最高的一項：不花錢、今天就能改。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省改機法則同時把逾期批數壓到 5 批，是唯一兼顧產出與交期的法則。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每台機每天需要 504 分鐘的工程師工時（改機 343 + 維修 161），25 台合計 8.8 人的純工作量，加上排隊緩衝需 10 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改機變便宜後排程更常換機種，反而打散交期——這是「局部改善未必全域最佳」的典型例子。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A→E 累積 +71.4 萬顆／日（+92.8%）。B +40.8 萬、C +20.8 萬、D +6.9 萬、E +3.0 萬。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這是模擬產生的 200 批 WIP，結構比照現場：5 種封裝、8 種程式、小中大批 60/30/10。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人時省改機的等工程師時間是 50 分、加權綜合 254 分，其他法則是 9,000~11,000 分；加上當機後（10 次平均），3 人除了省改機 14.5 h 與加權綜合 18.8 h，全部拖到 44~50 小時。加權綜合在 3／5／10 人下都是 10.2~10.3 h，是三種人力裡最穩的一個。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 台機時瓶頸是改機排隊，所以省改機贏；25 台機時機台過剩、瓶頸變成有沒有把大批塞進 8-site 快機。重新對齊後所有法則的等工程師時間都是 0。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門檻的實際分界在 26.7% 與 28.2% 之間。配對派工把改機的浪費壓低了（同一組情境的改機占比從 35% 掉到 28%），所以門檻跟著下修；兩側離門檻越遠，兩種法則差距越大。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重點不是哪一格數字，而是治具套數和機台數、人力一樣會決定該用哪一種排程法則。請提供實際 Kit 套數後重跑本頁。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前兩項是純管理決策，今天就能改；第三項是人力預算；第四項需要 IT 或設備工程投入。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四個階段刻意分開，避免同時變動多個變數而無法歸因。最大的單一不確定性是換程式是否佔用工程師。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A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96596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MYFACTORY 排程模擬 · 25 台測試機產線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331720"/>
            <a:ext cx="10515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測試排程分析報告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79476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以離散事件模擬量化影響產出的所有因素，比較七種排程法則，</a:t>
            </a:r>
            <a:endParaRPr lang="en-US" sz="15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並提出可落地的排程與資源配置建議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589788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資料來源：MyFactory 模擬器（已用現場三項實測數據校準）　|　每組情境 20 個獨立模擬日取平均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1143000" y="310896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結論摘要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896112"/>
            <a:ext cx="10424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把典型現行做法換成建議做法，模擬顯示每日良品可以接近翻倍——而且前兩項不花錢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66928" y="1481328"/>
            <a:ext cx="2743200" cy="1481328"/>
          </a:xfrm>
          <a:prstGeom prst="roundRect">
            <a:avLst>
              <a:gd name="adj" fmla="val 3704"/>
            </a:avLst>
          </a:prstGeom>
          <a:solidFill>
            <a:srgbClr val="F5F7F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85216" y="1645920"/>
            <a:ext cx="27066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0F7B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+93%</a:t>
            </a:r>
            <a:endParaRPr lang="en-US" sz="3100" dirty="0"/>
          </a:p>
        </p:txBody>
      </p:sp>
      <p:sp>
        <p:nvSpPr>
          <p:cNvPr id="7" name="Text 5"/>
          <p:cNvSpPr txBox="1"/>
          <p:nvPr/>
        </p:nvSpPr>
        <p:spPr>
          <a:xfrm>
            <a:off x="585216" y="2267712"/>
            <a:ext cx="2706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每日良品提升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585216" y="2542032"/>
            <a:ext cx="2706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 萬 → 148 萬顆／日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465576" y="1481328"/>
            <a:ext cx="2743200" cy="1481328"/>
          </a:xfrm>
          <a:prstGeom prst="roundRect">
            <a:avLst>
              <a:gd name="adj" fmla="val 3704"/>
            </a:avLst>
          </a:prstGeom>
          <a:solidFill>
            <a:srgbClr val="F5F7F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483864" y="1645920"/>
            <a:ext cx="27066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0F7B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220 → 2</a:t>
            </a:r>
            <a:endParaRPr lang="en-US" sz="3100" dirty="0"/>
          </a:p>
        </p:txBody>
      </p:sp>
      <p:sp>
        <p:nvSpPr>
          <p:cNvPr id="11" name="Text 9"/>
          <p:cNvSpPr txBox="1"/>
          <p:nvPr/>
        </p:nvSpPr>
        <p:spPr>
          <a:xfrm>
            <a:off x="3483864" y="2267712"/>
            <a:ext cx="2706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每日逾期批數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3483864" y="2542032"/>
            <a:ext cx="2706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交期表現同步改善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364224" y="1481328"/>
            <a:ext cx="2743200" cy="1481328"/>
          </a:xfrm>
          <a:prstGeom prst="roundRect">
            <a:avLst>
              <a:gd name="adj" fmla="val 3704"/>
            </a:avLst>
          </a:prstGeom>
          <a:solidFill>
            <a:srgbClr val="F5F7F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382512" y="1645920"/>
            <a:ext cx="27066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37% → 1%</a:t>
            </a:r>
            <a:endParaRPr lang="en-US" sz="3100" dirty="0"/>
          </a:p>
        </p:txBody>
      </p:sp>
      <p:sp>
        <p:nvSpPr>
          <p:cNvPr id="15" name="Text 13"/>
          <p:cNvSpPr txBox="1"/>
          <p:nvPr/>
        </p:nvSpPr>
        <p:spPr>
          <a:xfrm>
            <a:off x="6382512" y="2267712"/>
            <a:ext cx="2706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機台等工程師占比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6382512" y="2542032"/>
            <a:ext cx="2706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同樣人力、排程改變後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9262872" y="1481328"/>
            <a:ext cx="2331720" cy="1481328"/>
          </a:xfrm>
          <a:prstGeom prst="roundRect">
            <a:avLst>
              <a:gd name="adj" fmla="val 3704"/>
            </a:avLst>
          </a:prstGeom>
          <a:solidFill>
            <a:srgbClr val="F5F7F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281160" y="1645920"/>
            <a:ext cx="22951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: 2.5</a:t>
            </a:r>
            <a:endParaRPr lang="en-US" sz="3100" dirty="0"/>
          </a:p>
        </p:txBody>
      </p:sp>
      <p:sp>
        <p:nvSpPr>
          <p:cNvPr id="19" name="Text 17"/>
          <p:cNvSpPr txBox="1"/>
          <p:nvPr/>
        </p:nvSpPr>
        <p:spPr>
          <a:xfrm>
            <a:off x="9281160" y="2267712"/>
            <a:ext cx="2295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建議人機比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9281160" y="2542032"/>
            <a:ext cx="22951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台配 10 位工程師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66928" y="3246120"/>
            <a:ext cx="5541264" cy="2148840"/>
          </a:xfrm>
          <a:prstGeom prst="roundRect">
            <a:avLst>
              <a:gd name="adj" fmla="val 2128"/>
            </a:avLst>
          </a:prstGeom>
          <a:solidFill>
            <a:srgbClr val="F5F7F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04672" y="3502152"/>
            <a:ext cx="146304" cy="146304"/>
          </a:xfrm>
          <a:prstGeom prst="ellipse">
            <a:avLst/>
          </a:prstGeom>
          <a:solidFill>
            <a:srgbClr val="0F7B6C"/>
          </a:solidFill>
          <a:ln w="12700">
            <a:solidFill>
              <a:srgbClr val="0F7B6C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1060704" y="3401568"/>
            <a:ext cx="48097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不花錢就能拿到的效益（前兩項）</a:t>
            </a:r>
            <a:endParaRPr lang="en-US" sz="1450" dirty="0"/>
          </a:p>
        </p:txBody>
      </p:sp>
      <p:sp>
        <p:nvSpPr>
          <p:cNvPr id="24" name="Text 22"/>
          <p:cNvSpPr txBox="1"/>
          <p:nvPr/>
        </p:nvSpPr>
        <p:spPr>
          <a:xfrm>
            <a:off x="1060704" y="3758184"/>
            <a:ext cx="4809744" cy="1545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8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排程法則改為「省改機優先」：+41 萬顆／日</a:t>
            </a:r>
            <a:endParaRPr lang="en-US" sz="1200" dirty="0"/>
          </a:p>
          <a:p>
            <a:pPr marL="342900" indent="-342900">
              <a:lnSpc>
                <a:spcPts val="18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取消預先派工，機台做完當下才決定：+21 萬顆／日</a:t>
            </a:r>
            <a:endParaRPr lang="en-US" sz="1200" dirty="0"/>
          </a:p>
          <a:p>
            <a:pPr marL="342900" indent="-342900">
              <a:lnSpc>
                <a:spcPts val="18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兩項合計 +62 萬顆／日（+80%），逾期批數 220 → 20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364224" y="3246120"/>
            <a:ext cx="5230368" cy="2148840"/>
          </a:xfrm>
          <a:prstGeom prst="roundRect">
            <a:avLst>
              <a:gd name="adj" fmla="val 2128"/>
            </a:avLst>
          </a:prstGeom>
          <a:solidFill>
            <a:srgbClr val="F5F7F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601968" y="3502152"/>
            <a:ext cx="146304" cy="146304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858000" y="3401568"/>
            <a:ext cx="44988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需要投入的效益（後兩項）</a:t>
            </a:r>
            <a:endParaRPr lang="en-US" sz="1450" dirty="0"/>
          </a:p>
        </p:txBody>
      </p:sp>
      <p:sp>
        <p:nvSpPr>
          <p:cNvPr id="28" name="Text 26"/>
          <p:cNvSpPr txBox="1"/>
          <p:nvPr/>
        </p:nvSpPr>
        <p:spPr>
          <a:xfrm>
            <a:off x="6858000" y="3758184"/>
            <a:ext cx="4498848" cy="1545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8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工程師由 8 人補至 10 人：+7 萬顆／日</a:t>
            </a:r>
            <a:endParaRPr lang="en-US" sz="1200" dirty="0"/>
          </a:p>
          <a:p>
            <a:pPr marL="342900" indent="-342900">
              <a:lnSpc>
                <a:spcPts val="18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換程式時間 30→15 分：+3 萬顆／日</a:t>
            </a:r>
            <a:endParaRPr lang="en-US" sz="1200" dirty="0"/>
          </a:p>
          <a:p>
            <a:pPr marL="342900" indent="-342900">
              <a:lnSpc>
                <a:spcPts val="18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兩項合計 +10 萬顆／日，並把逾期壓到 2 批以下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566928" y="5632704"/>
            <a:ext cx="11018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情境定義　典型現行做法 ＝ 最早交期排序 ＋ 預先押一批 ＋ 8 位工程師　|　建議做法 ＝ 省改機排序 ＋ 即時派工 ＋ 10 位工程師 ＋ 換程式 15 分</a:t>
            </a:r>
            <a:endParaRPr lang="en-US" sz="1150" dirty="0"/>
          </a:p>
        </p:txBody>
      </p:sp>
      <p:sp>
        <p:nvSpPr>
          <p:cNvPr id="30" name="Text 28"/>
          <p:cNvSpPr txBox="1"/>
          <p:nvPr/>
        </p:nvSpPr>
        <p:spPr>
          <a:xfrm>
            <a:off x="566928" y="6016752"/>
            <a:ext cx="11018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每組情境皆為 20 個獨立模擬日的平均；情境之間僅改變指定變數，其餘參數完全相同。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1143000" y="310896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模型與校準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896112"/>
            <a:ext cx="10424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模型不是假設出來的：用現場三項實測值反推參數，三項同時對上才開始分析。右圖是校準後的基準情境</a:t>
            </a:r>
            <a:endParaRPr lang="en-US" sz="135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463040"/>
          <a:ext cx="6675120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1600200"/>
                <a:gridCol w="1417320"/>
                <a:gridCol w="118872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校準項目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現場實測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模型產出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結果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全廠每日換 Kit 次數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約 50 次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39～44 次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一致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當機次數 ÷ 換 Kit 次數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 倍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1.47 倍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一致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機隊等效 site 數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5×8 + 10×4 + 10×2 = 100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100（平均 4）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一致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66928" y="3246120"/>
            <a:ext cx="6675120" cy="2286000"/>
          </a:xfrm>
          <a:prstGeom prst="roundRect">
            <a:avLst>
              <a:gd name="adj" fmla="val 2000"/>
            </a:avLst>
          </a:prstGeom>
          <a:solidFill>
            <a:srgbClr val="F5F7F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04672" y="3502152"/>
            <a:ext cx="146304" cy="146304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1060704" y="3401568"/>
            <a:ext cx="5943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模型參數（校準後）</a:t>
            </a:r>
            <a:endParaRPr lang="en-US" sz="1450" dirty="0"/>
          </a:p>
        </p:txBody>
      </p:sp>
      <p:sp>
        <p:nvSpPr>
          <p:cNvPr id="9" name="Text 6"/>
          <p:cNvSpPr txBox="1"/>
          <p:nvPr/>
        </p:nvSpPr>
        <p:spPr>
          <a:xfrm>
            <a:off x="1060704" y="3758184"/>
            <a:ext cx="5943600" cy="1682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8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台測試機：5 台 8 site、10 台 4 site、10 台 2 site</a:t>
            </a:r>
            <a:endParaRPr lang="en-US" sz="1200" dirty="0"/>
          </a:p>
          <a:p>
            <a:pPr marL="342900" indent="-342900">
              <a:lnSpc>
                <a:spcPts val="18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批量結構：小批 0.5–2k 占 60%、中批 2–10k 占 30%、大批 10–25k 占 10%</a:t>
            </a:r>
            <a:endParaRPr lang="en-US" sz="1200" dirty="0"/>
          </a:p>
          <a:p>
            <a:pPr marL="342900" indent="-342900">
              <a:lnSpc>
                <a:spcPts val="18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換 Kit 60 分、換程式 30 分、良率 80–99%、RT 門檻 99/98</a:t>
            </a:r>
            <a:endParaRPr lang="en-US" sz="1200" dirty="0"/>
          </a:p>
          <a:p>
            <a:pPr marL="342900" indent="-342900">
              <a:lnSpc>
                <a:spcPts val="18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當機率 11.5%／機時、修復 10–120 分、一天 24 小時三班</a:t>
            </a:r>
            <a:endParaRPr lang="en-US" sz="1200" dirty="0"/>
          </a:p>
        </p:txBody>
      </p:sp>
      <p:pic>
        <p:nvPicPr>
          <p:cNvPr id="10" name="Image 0" descr="charts/c_ti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640" y="1417320"/>
            <a:ext cx="4206240" cy="3011987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7406640" y="4553712"/>
            <a:ext cx="4206240" cy="1600200"/>
          </a:xfrm>
          <a:prstGeom prst="roundRect">
            <a:avLst>
              <a:gd name="adj" fmla="val 2857"/>
            </a:avLst>
          </a:prstGeom>
          <a:solidFill>
            <a:srgbClr val="F5F7F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644384" y="4809744"/>
            <a:ext cx="146304" cy="146304"/>
          </a:xfrm>
          <a:prstGeom prst="ellipse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7900416" y="4709160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瓶頸一眼可見</a:t>
            </a:r>
            <a:endParaRPr lang="en-US" sz="1450" dirty="0"/>
          </a:p>
        </p:txBody>
      </p:sp>
      <p:sp>
        <p:nvSpPr>
          <p:cNvPr id="14" name="Text 10"/>
          <p:cNvSpPr txBox="1"/>
          <p:nvPr/>
        </p:nvSpPr>
        <p:spPr>
          <a:xfrm>
            <a:off x="7900416" y="5065776"/>
            <a:ext cx="3474720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8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真正在測試的時間只有 46.7%</a:t>
            </a:r>
            <a:endParaRPr lang="en-US" sz="1200" dirty="0"/>
          </a:p>
          <a:p>
            <a:pPr marL="342900" indent="-342900">
              <a:lnSpc>
                <a:spcPts val="18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改機 + 維修 + 等工程師 = 38.7%</a:t>
            </a:r>
            <a:endParaRPr lang="en-US" sz="1200" dirty="0"/>
          </a:p>
          <a:p>
            <a:pPr marL="342900" indent="-342900">
              <a:lnSpc>
                <a:spcPts val="18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這三項全部繞著「工程師」轉</a:t>
            </a:r>
            <a:endParaRPr lang="en-US" sz="1200" dirty="0"/>
          </a:p>
        </p:txBody>
      </p:sp>
      <p:sp>
        <p:nvSpPr>
          <p:cNvPr id="15" name="Text 11"/>
          <p:cNvSpPr txBox="1"/>
          <p:nvPr/>
        </p:nvSpPr>
        <p:spPr>
          <a:xfrm>
            <a:off x="7406640" y="6217920"/>
            <a:ext cx="4206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右圖是基準情境（已採用省改機＋即時派工＋10 人）；現場典型做法的稼動只有 29.2%，見第 9 頁的起點 A。</a:t>
            </a:r>
            <a:endParaRPr lang="en-US" sz="1000" dirty="0"/>
          </a:p>
        </p:txBody>
      </p:sp>
      <p:sp>
        <p:nvSpPr>
          <p:cNvPr id="16" name="Text 12"/>
          <p:cNvSpPr txBox="1"/>
          <p:nvPr/>
        </p:nvSpPr>
        <p:spPr>
          <a:xfrm>
            <a:off x="566928" y="5650992"/>
            <a:ext cx="6675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註　時間結構為 25 台機 × 1440 分鐘的合計分配，取 20 個模擬日平均。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1143000" y="310896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影響產出的因素排序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896112"/>
            <a:ext cx="10424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同一組機台與人力，只改變單一因素造成的每日良品差距（單位：萬顆）</a:t>
            </a:r>
            <a:endParaRPr lang="en-US" sz="1350" dirty="0"/>
          </a:p>
        </p:txBody>
      </p:sp>
      <p:pic>
        <p:nvPicPr>
          <p:cNvPr id="5" name="Image 0" descr="charts/c_facto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353312"/>
            <a:ext cx="11018520" cy="431726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66928" y="5760720"/>
            <a:ext cx="11018520" cy="932688"/>
          </a:xfrm>
          <a:prstGeom prst="roundRect">
            <a:avLst>
              <a:gd name="adj" fmla="val 4902"/>
            </a:avLst>
          </a:prstGeom>
          <a:solidFill>
            <a:srgbClr val="F5F7F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04672" y="6016752"/>
            <a:ext cx="146304" cy="146304"/>
          </a:xfrm>
          <a:prstGeom prst="ellipse">
            <a:avLst/>
          </a:prstGeom>
          <a:solidFill>
            <a:srgbClr val="0F7B6C"/>
          </a:solidFill>
          <a:ln w="12700">
            <a:solidFill>
              <a:srgbClr val="0F7B6C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1060704" y="5916168"/>
            <a:ext cx="10287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讀這張圖的方式</a:t>
            </a:r>
            <a:endParaRPr lang="en-US" sz="1450" dirty="0"/>
          </a:p>
        </p:txBody>
      </p:sp>
      <p:sp>
        <p:nvSpPr>
          <p:cNvPr id="9" name="Text 6"/>
          <p:cNvSpPr txBox="1"/>
          <p:nvPr/>
        </p:nvSpPr>
        <p:spPr>
          <a:xfrm>
            <a:off x="1060704" y="6272784"/>
            <a:ext cx="10287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8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前三項是「排程決策」——不必花錢，改做法即可；後三項是「工程改善」——需要投資或人力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1143000" y="310896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因素一：派工時機（最大的免費槓桿）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896112"/>
            <a:ext cx="10424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「預約深度」＝ 提前把幾批貨綁定到機台上排隊</a:t>
            </a:r>
            <a:endParaRPr lang="en-US" sz="1350" dirty="0"/>
          </a:p>
        </p:txBody>
      </p:sp>
      <p:pic>
        <p:nvPicPr>
          <p:cNvPr id="5" name="Image 0" descr="charts/c_dept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417320"/>
            <a:ext cx="5394960" cy="3863201"/>
          </a:xfrm>
          <a:prstGeom prst="rect">
            <a:avLst/>
          </a:prstGeom>
        </p:spPr>
      </p:pic>
      <p:pic>
        <p:nvPicPr>
          <p:cNvPr id="6" name="Image 1" descr="charts/c_la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7064" y="1417320"/>
            <a:ext cx="5394960" cy="3863201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66928" y="5394960"/>
            <a:ext cx="11018520" cy="1170432"/>
          </a:xfrm>
          <a:prstGeom prst="roundRect">
            <a:avLst>
              <a:gd name="adj" fmla="val 3906"/>
            </a:avLst>
          </a:prstGeom>
          <a:solidFill>
            <a:srgbClr val="F5F7F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804672" y="5650992"/>
            <a:ext cx="146304" cy="146304"/>
          </a:xfrm>
          <a:prstGeom prst="ellipse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1060704" y="5550408"/>
            <a:ext cx="10287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機制：提前綁定 ＝ 用舊資訊做決策</a:t>
            </a:r>
            <a:endParaRPr lang="en-US" sz="1450" dirty="0"/>
          </a:p>
        </p:txBody>
      </p:sp>
      <p:sp>
        <p:nvSpPr>
          <p:cNvPr id="10" name="Text 6"/>
          <p:cNvSpPr txBox="1"/>
          <p:nvPr/>
        </p:nvSpPr>
        <p:spPr>
          <a:xfrm>
            <a:off x="1060704" y="5907024"/>
            <a:ext cx="10287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8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後來的急件、突發當機、良率變化都還沒發生，而被綁住的批已經不能改派</a:t>
            </a:r>
            <a:endParaRPr lang="en-US" sz="1200" dirty="0"/>
          </a:p>
          <a:p>
            <a:pPr marL="342900" indent="-342900">
              <a:lnSpc>
                <a:spcPts val="18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押 3 批 vs 做完才派：每日良品少 27.7 萬顆（−19%），逾期批數由 5 批暴增到 106 批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1143000" y="310896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因素二：排程法則比較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896112"/>
            <a:ext cx="10424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同樣 25 台機、同樣 10 位工程師、同樣的貨，只改變「先做哪一批」的規則</a:t>
            </a:r>
            <a:endParaRPr lang="en-US" sz="1350" dirty="0"/>
          </a:p>
        </p:txBody>
      </p:sp>
      <p:pic>
        <p:nvPicPr>
          <p:cNvPr id="5" name="Image 0" descr="charts/c_polic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371600"/>
            <a:ext cx="6949440" cy="4432889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726680" y="1371600"/>
            <a:ext cx="3858768" cy="1645920"/>
          </a:xfrm>
          <a:prstGeom prst="roundRect">
            <a:avLst>
              <a:gd name="adj" fmla="val 2778"/>
            </a:avLst>
          </a:prstGeom>
          <a:solidFill>
            <a:srgbClr val="F5F7F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964424" y="1627632"/>
            <a:ext cx="146304" cy="146304"/>
          </a:xfrm>
          <a:prstGeom prst="ellipse">
            <a:avLst/>
          </a:prstGeom>
          <a:solidFill>
            <a:srgbClr val="0F7B6C"/>
          </a:solidFill>
          <a:ln w="12700">
            <a:solidFill>
              <a:srgbClr val="0F7B6C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220456" y="1527048"/>
            <a:ext cx="31272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為什麼「省改機」贏</a:t>
            </a:r>
            <a:endParaRPr lang="en-US" sz="1450" dirty="0"/>
          </a:p>
        </p:txBody>
      </p:sp>
      <p:sp>
        <p:nvSpPr>
          <p:cNvPr id="9" name="Text 6"/>
          <p:cNvSpPr txBox="1"/>
          <p:nvPr/>
        </p:nvSpPr>
        <p:spPr>
          <a:xfrm>
            <a:off x="8220456" y="1883664"/>
            <a:ext cx="3127248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8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改機佔用工程師，工程師是瓶頸</a:t>
            </a:r>
            <a:endParaRPr lang="en-US" sz="1200" dirty="0"/>
          </a:p>
          <a:p>
            <a:pPr marL="342900" indent="-342900">
              <a:lnSpc>
                <a:spcPts val="18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少改機 → 工程師被釋放 → 其他機台少等</a:t>
            </a:r>
            <a:endParaRPr lang="en-US" sz="1200" dirty="0"/>
          </a:p>
          <a:p>
            <a:pPr marL="342900" indent="-342900">
              <a:lnSpc>
                <a:spcPts val="18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換 Kit 39 次 vs 最差法則 64 次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7726680" y="3154680"/>
            <a:ext cx="3858768" cy="1645920"/>
          </a:xfrm>
          <a:prstGeom prst="roundRect">
            <a:avLst>
              <a:gd name="adj" fmla="val 2778"/>
            </a:avLst>
          </a:prstGeom>
          <a:solidFill>
            <a:srgbClr val="F5F7F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964424" y="3410712"/>
            <a:ext cx="146304" cy="146304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220456" y="3310128"/>
            <a:ext cx="31272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同時贏產出與交期</a:t>
            </a:r>
            <a:endParaRPr lang="en-US" sz="1450" dirty="0"/>
          </a:p>
        </p:txBody>
      </p:sp>
      <p:sp>
        <p:nvSpPr>
          <p:cNvPr id="13" name="Text 10"/>
          <p:cNvSpPr txBox="1"/>
          <p:nvPr/>
        </p:nvSpPr>
        <p:spPr>
          <a:xfrm>
            <a:off x="8220456" y="3666744"/>
            <a:ext cx="3127248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8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省改機法則的逾期批數也是最低（5 批／日）</a:t>
            </a:r>
            <a:endParaRPr lang="en-US" sz="1200" dirty="0"/>
          </a:p>
          <a:p>
            <a:pPr marL="342900" indent="-342900">
              <a:lnSpc>
                <a:spcPts val="18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是唯一不必在衝產出與保交期之間取捨的法則</a:t>
            </a:r>
            <a:endParaRPr lang="en-US" sz="1200" dirty="0"/>
          </a:p>
          <a:p>
            <a:pPr marL="342900" indent="-342900">
              <a:lnSpc>
                <a:spcPts val="18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其餘法則都得在兩者之間取捨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7726680" y="4937760"/>
            <a:ext cx="3858768" cy="1051560"/>
          </a:xfrm>
          <a:prstGeom prst="roundRect">
            <a:avLst>
              <a:gd name="adj" fmla="val 4348"/>
            </a:avLst>
          </a:prstGeom>
          <a:solidFill>
            <a:srgbClr val="F5F7F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7964424" y="5193792"/>
            <a:ext cx="146304" cy="146304"/>
          </a:xfrm>
          <a:prstGeom prst="ellipse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220456" y="5093208"/>
            <a:ext cx="31272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例外：排名會翻轉</a:t>
            </a:r>
            <a:endParaRPr lang="en-US" sz="1450" dirty="0"/>
          </a:p>
        </p:txBody>
      </p:sp>
      <p:sp>
        <p:nvSpPr>
          <p:cNvPr id="17" name="Text 14"/>
          <p:cNvSpPr txBox="1"/>
          <p:nvPr/>
        </p:nvSpPr>
        <p:spPr>
          <a:xfrm>
            <a:off x="8220456" y="5449824"/>
            <a:ext cx="3127248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8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機台或人力寬裕時改用「大批給快機」更快，判斷方式見第 13 頁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566928" y="6053328"/>
            <a:ext cx="6949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註　最佳與最差差距 50.2 萬顆／日（+52%）；七種法則皆在相同的 20 個模擬日上比較。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1143000" y="310896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因素三：工程師人力與人機比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896112"/>
            <a:ext cx="10424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改機與維修都要佔用一位工程師；人不足時機台就停著等</a:t>
            </a:r>
            <a:endParaRPr lang="en-US" sz="1350" dirty="0"/>
          </a:p>
        </p:txBody>
      </p:sp>
      <p:pic>
        <p:nvPicPr>
          <p:cNvPr id="5" name="Image 0" descr="charts/c_e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353312"/>
            <a:ext cx="4846320" cy="3470333"/>
          </a:xfrm>
          <a:prstGeom prst="rect">
            <a:avLst/>
          </a:prstGeom>
        </p:spPr>
      </p:pic>
      <p:pic>
        <p:nvPicPr>
          <p:cNvPr id="6" name="Image 1" descr="charts/c_rati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0448" y="1353312"/>
            <a:ext cx="5577840" cy="3712867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66928" y="5157216"/>
            <a:ext cx="5486400" cy="1188720"/>
          </a:xfrm>
          <a:prstGeom prst="roundRect">
            <a:avLst>
              <a:gd name="adj" fmla="val 3846"/>
            </a:avLst>
          </a:prstGeom>
          <a:solidFill>
            <a:srgbClr val="F5F7F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804672" y="5413248"/>
            <a:ext cx="146304" cy="146304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1060704" y="5312664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本廠建議值：10 人（1:2.5）</a:t>
            </a:r>
            <a:endParaRPr lang="en-US" sz="1450" dirty="0"/>
          </a:p>
        </p:txBody>
      </p:sp>
      <p:sp>
        <p:nvSpPr>
          <p:cNvPr id="10" name="Text 6"/>
          <p:cNvSpPr txBox="1"/>
          <p:nvPr/>
        </p:nvSpPr>
        <p:spPr>
          <a:xfrm>
            <a:off x="1060704" y="5669280"/>
            <a:ext cx="47548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8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人是拐點，再加人只多 0.1%</a:t>
            </a:r>
            <a:endParaRPr lang="en-US" sz="1200" dirty="0"/>
          </a:p>
          <a:p>
            <a:pPr marL="342900" indent="-342900">
              <a:lnSpc>
                <a:spcPts val="18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降到 8 人：停等 14.4%、逾期由 5 批升到 20 批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6172200" y="5157216"/>
            <a:ext cx="5413248" cy="1188720"/>
          </a:xfrm>
          <a:prstGeom prst="roundRect">
            <a:avLst>
              <a:gd name="adj" fmla="val 3846"/>
            </a:avLst>
          </a:prstGeom>
          <a:solidFill>
            <a:srgbClr val="F5F7F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6409944" y="5413248"/>
            <a:ext cx="146304" cy="146304"/>
          </a:xfrm>
          <a:prstGeom prst="ellipse">
            <a:avLst/>
          </a:prstGeom>
          <a:solidFill>
            <a:srgbClr val="0F7B6C"/>
          </a:solidFill>
          <a:ln w="12700">
            <a:solidFill>
              <a:srgbClr val="0F7B6C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6665976" y="5312664"/>
            <a:ext cx="4681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跨規模通用的管理規則</a:t>
            </a:r>
            <a:endParaRPr lang="en-US" sz="1450" dirty="0"/>
          </a:p>
        </p:txBody>
      </p:sp>
      <p:sp>
        <p:nvSpPr>
          <p:cNvPr id="14" name="Text 10"/>
          <p:cNvSpPr txBox="1"/>
          <p:nvPr/>
        </p:nvSpPr>
        <p:spPr>
          <a:xfrm>
            <a:off x="6665976" y="5669280"/>
            <a:ext cx="468172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8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1:4 以內產能幾乎不損失；1:6 直接掉一半</a:t>
            </a:r>
            <a:endParaRPr lang="en-US" sz="1200" dirty="0"/>
          </a:p>
          <a:p>
            <a:pPr marL="342900" indent="-342900">
              <a:lnSpc>
                <a:spcPts val="18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1:8 以上系統性崩塌 → 50 台至少要 13 人</a:t>
            </a:r>
            <a:endParaRPr lang="en-US" sz="1200" dirty="0"/>
          </a:p>
        </p:txBody>
      </p:sp>
      <p:sp>
        <p:nvSpPr>
          <p:cNvPr id="15" name="Text 11"/>
          <p:cNvSpPr txBox="1"/>
          <p:nvPr/>
        </p:nvSpPr>
        <p:spPr>
          <a:xfrm>
            <a:off x="566928" y="6364224"/>
            <a:ext cx="11018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註　右圖各規模的到貨量與開局在製依機台數等比例放大，使每台機負載一致；縱軸以各規模自身 1:1 的產出為 100% 正規化。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1143000" y="310896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因素四：機台專用化與工程改善槓桿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896112"/>
            <a:ext cx="10424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先看專用化如何削減換 Kit，再比較各項工程改善的實際效益</a:t>
            </a:r>
            <a:endParaRPr lang="en-US" sz="1350" dirty="0"/>
          </a:p>
        </p:txBody>
      </p:sp>
      <p:pic>
        <p:nvPicPr>
          <p:cNvPr id="5" name="Image 0" descr="charts/c_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353312"/>
            <a:ext cx="4572000" cy="3477864"/>
          </a:xfrm>
          <a:prstGeom prst="rect">
            <a:avLst/>
          </a:prstGeom>
        </p:spPr>
      </p:pic>
      <p:pic>
        <p:nvPicPr>
          <p:cNvPr id="6" name="Image 1" descr="charts/c_lev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1353312"/>
            <a:ext cx="5623560" cy="3523534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66928" y="4983480"/>
            <a:ext cx="5486400" cy="1627632"/>
          </a:xfrm>
          <a:prstGeom prst="roundRect">
            <a:avLst>
              <a:gd name="adj" fmla="val 2809"/>
            </a:avLst>
          </a:prstGeom>
          <a:solidFill>
            <a:srgbClr val="F5F7F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804672" y="5239512"/>
            <a:ext cx="146304" cy="146304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1060704" y="5138928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彈性機的「台數」已接近最佳</a:t>
            </a:r>
            <a:endParaRPr lang="en-US" sz="1450" dirty="0"/>
          </a:p>
        </p:txBody>
      </p:sp>
      <p:sp>
        <p:nvSpPr>
          <p:cNvPr id="10" name="Text 6"/>
          <p:cNvSpPr txBox="1"/>
          <p:nvPr/>
        </p:nvSpPr>
        <p:spPr>
          <a:xfrm>
            <a:off x="1060704" y="5495544"/>
            <a:ext cx="475488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8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台彈性機扛下所有換 Kit，現況 39 次／日</a:t>
            </a:r>
            <a:endParaRPr lang="en-US" sz="1200" dirty="0"/>
          </a:p>
          <a:p>
            <a:pPr marL="342900" indent="-342900">
              <a:lnSpc>
                <a:spcPts val="18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完全專用再省 70 分／台／日，但急單無處插隊</a:t>
            </a:r>
            <a:endParaRPr lang="en-US" sz="1200" dirty="0"/>
          </a:p>
          <a:p>
            <a:pPr marL="342900" indent="-342900">
              <a:lnSpc>
                <a:spcPts val="18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專用機「各綁哪一種封裝」是另一回事，見第 12 頁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6172200" y="4983480"/>
            <a:ext cx="5413248" cy="1627632"/>
          </a:xfrm>
          <a:prstGeom prst="roundRect">
            <a:avLst>
              <a:gd name="adj" fmla="val 2809"/>
            </a:avLst>
          </a:prstGeom>
          <a:solidFill>
            <a:srgbClr val="F5F7F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6409944" y="5239512"/>
            <a:ext cx="146304" cy="146304"/>
          </a:xfrm>
          <a:prstGeom prst="ellipse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6665976" y="5138928"/>
            <a:ext cx="4681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槓桿：換程式才是大宗</a:t>
            </a:r>
            <a:endParaRPr lang="en-US" sz="1450" dirty="0"/>
          </a:p>
        </p:txBody>
      </p:sp>
      <p:sp>
        <p:nvSpPr>
          <p:cNvPr id="14" name="Text 10"/>
          <p:cNvSpPr txBox="1"/>
          <p:nvPr/>
        </p:nvSpPr>
        <p:spPr>
          <a:xfrm>
            <a:off x="6665976" y="5495544"/>
            <a:ext cx="4681728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8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換程式 213 次／日 vs 換 Kit 39 次／日</a:t>
            </a:r>
            <a:endParaRPr lang="en-US" sz="1200" dirty="0"/>
          </a:p>
          <a:p>
            <a:pPr marL="342900" indent="-342900">
              <a:lnSpc>
                <a:spcPts val="18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30→15 分是唯一同時改善產出、工時與交期的措施</a:t>
            </a:r>
            <a:endParaRPr lang="en-US" sz="1200" dirty="0"/>
          </a:p>
          <a:p>
            <a:pPr marL="342900" indent="-342900">
              <a:lnSpc>
                <a:spcPts val="18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換 Kit 60→30 分反使逾期由 5 升到 12.6 批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1143000" y="310896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累積效益路徑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896112"/>
            <a:ext cx="10424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從典型現行做法開始，依序加入四項建議，每一步的實際模擬結果</a:t>
            </a:r>
            <a:endParaRPr lang="en-US" sz="1350" dirty="0"/>
          </a:p>
        </p:txBody>
      </p:sp>
      <p:pic>
        <p:nvPicPr>
          <p:cNvPr id="5" name="Image 0" descr="charts/c_cu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" y="1335024"/>
            <a:ext cx="10424160" cy="408438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66928" y="5513832"/>
            <a:ext cx="11018520" cy="1170432"/>
          </a:xfrm>
          <a:prstGeom prst="roundRect">
            <a:avLst>
              <a:gd name="adj" fmla="val 3906"/>
            </a:avLst>
          </a:prstGeom>
          <a:solidFill>
            <a:srgbClr val="F5F7F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04672" y="5769864"/>
            <a:ext cx="146304" cy="146304"/>
          </a:xfrm>
          <a:prstGeom prst="ellipse">
            <a:avLst/>
          </a:prstGeom>
          <a:solidFill>
            <a:srgbClr val="0F7B6C"/>
          </a:solidFill>
          <a:ln w="12700">
            <a:solidFill>
              <a:srgbClr val="0F7B6C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1060704" y="5669280"/>
            <a:ext cx="10287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效益集中在前兩步</a:t>
            </a:r>
            <a:endParaRPr lang="en-US" sz="1450" dirty="0"/>
          </a:p>
        </p:txBody>
      </p:sp>
      <p:sp>
        <p:nvSpPr>
          <p:cNvPr id="9" name="Text 6"/>
          <p:cNvSpPr txBox="1"/>
          <p:nvPr/>
        </p:nvSpPr>
        <p:spPr>
          <a:xfrm>
            <a:off x="1060704" y="6025896"/>
            <a:ext cx="10287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8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起點 A：稼動 29.2%、逾期 220 批／日　→　終點 E：稼動 47.2%、逾期 1.9 批／日、等工程師 0.8%</a:t>
            </a:r>
            <a:endParaRPr lang="en-US" sz="1200" dirty="0"/>
          </a:p>
          <a:p>
            <a:pPr marL="342900" indent="-342900">
              <a:lnSpc>
                <a:spcPts val="18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與 C 合計 +62 萬顆／日，占全部提升的 86%，且完全不需要增加人力或設備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1143000" y="310896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實測案例：清空 200 批 WIP 要多久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896112"/>
            <a:ext cx="10424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把待測清單直接餵進模型，跑到最後一批做完為止——問的不再是「一天做多少」，而是「這堆貨要多久清光」</a:t>
            </a:r>
            <a:endParaRPr lang="en-US" sz="1350" dirty="0"/>
          </a:p>
        </p:txBody>
      </p:sp>
      <p:pic>
        <p:nvPicPr>
          <p:cNvPr id="5" name="Image 0" descr="charts/c_cle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371600"/>
            <a:ext cx="6858000" cy="2500091"/>
          </a:xfrm>
          <a:prstGeom prst="rect">
            <a:avLst/>
          </a:prstGeom>
        </p:spPr>
      </p:pic>
      <p:pic>
        <p:nvPicPr>
          <p:cNvPr id="6" name="Image 1" descr="charts/c_curv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62088" y="1371600"/>
            <a:ext cx="4059936" cy="270248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66928" y="4206240"/>
            <a:ext cx="5486400" cy="1828800"/>
          </a:xfrm>
          <a:prstGeom prst="roundRect">
            <a:avLst>
              <a:gd name="adj" fmla="val 2500"/>
            </a:avLst>
          </a:prstGeom>
          <a:solidFill>
            <a:srgbClr val="F5F7F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804672" y="4462272"/>
            <a:ext cx="146304" cy="146304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1060704" y="4361688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這批貨的基本盤</a:t>
            </a:r>
            <a:endParaRPr lang="en-US" sz="1450" dirty="0"/>
          </a:p>
        </p:txBody>
      </p:sp>
      <p:sp>
        <p:nvSpPr>
          <p:cNvPr id="10" name="Text 6"/>
          <p:cNvSpPr txBox="1"/>
          <p:nvPr/>
        </p:nvSpPr>
        <p:spPr>
          <a:xfrm>
            <a:off x="1060704" y="4718304"/>
            <a:ext cx="4754880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8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批・66.2 萬顆・25 台機（機隊 100 site）</a:t>
            </a:r>
            <a:endParaRPr lang="en-US" sz="1200" dirty="0"/>
          </a:p>
          <a:p>
            <a:pPr marL="342900" indent="-342900">
              <a:lnSpc>
                <a:spcPts val="18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理論最短 4 小時 01 分（零改機零當機）</a:t>
            </a:r>
            <a:endParaRPr lang="en-US" sz="1200" dirty="0"/>
          </a:p>
          <a:p>
            <a:pPr marL="342900" indent="-342900">
              <a:lnSpc>
                <a:spcPts val="18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最快的法則 9 小時 18 分，仍比下限多 132%</a:t>
            </a:r>
            <a:endParaRPr lang="en-US" sz="1200" dirty="0"/>
          </a:p>
          <a:p>
            <a:pPr marL="342900" indent="-342900">
              <a:lnSpc>
                <a:spcPts val="18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最快與最慢差 9 小時 38 分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6172200" y="4206240"/>
            <a:ext cx="5413248" cy="1828800"/>
          </a:xfrm>
          <a:prstGeom prst="roundRect">
            <a:avLst>
              <a:gd name="adj" fmla="val 2500"/>
            </a:avLst>
          </a:prstGeom>
          <a:solidFill>
            <a:srgbClr val="F5F7F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6409944" y="4462272"/>
            <a:ext cx="146304" cy="146304"/>
          </a:xfrm>
          <a:prstGeom prst="ellipse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6665976" y="4361688"/>
            <a:ext cx="4681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完成曲線看得出尾巴</a:t>
            </a:r>
            <a:endParaRPr lang="en-US" sz="1450" dirty="0"/>
          </a:p>
        </p:txBody>
      </p:sp>
      <p:sp>
        <p:nvSpPr>
          <p:cNvPr id="14" name="Text 10"/>
          <p:cNvSpPr txBox="1"/>
          <p:nvPr/>
        </p:nvSpPr>
        <p:spPr>
          <a:xfrm>
            <a:off x="6665976" y="4718304"/>
            <a:ext cx="4681728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8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省改機前 3 小時就做完 139 批，遙遙領先</a:t>
            </a:r>
            <a:endParaRPr lang="en-US" sz="1200" dirty="0"/>
          </a:p>
          <a:p>
            <a:pPr marL="342900" indent="-342900">
              <a:lnSpc>
                <a:spcPts val="18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但 9 小時後停在 198 批，最後 2 批拖到 12.4 小時</a:t>
            </a:r>
            <a:endParaRPr lang="en-US" sz="1200" dirty="0"/>
          </a:p>
          <a:p>
            <a:pPr marL="342900" indent="-342900">
              <a:lnSpc>
                <a:spcPts val="18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大批給快機起步慢，卻 9.3 小時最早清光</a:t>
            </a:r>
            <a:endParaRPr lang="en-US" sz="1200" dirty="0"/>
          </a:p>
          <a:p>
            <a:pPr marL="342900" indent="-342900">
              <a:lnSpc>
                <a:spcPts val="18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加權綜合起步快、10.2 小時清光，兩頭兼顧</a:t>
            </a:r>
            <a:endParaRPr lang="en-US" sz="1200" dirty="0"/>
          </a:p>
        </p:txBody>
      </p:sp>
      <p:sp>
        <p:nvSpPr>
          <p:cNvPr id="15" name="Text 11"/>
          <p:cNvSpPr txBox="1"/>
          <p:nvPr/>
        </p:nvSpPr>
        <p:spPr>
          <a:xfrm>
            <a:off x="566928" y="6126480"/>
            <a:ext cx="11018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註　情境為「純排程比較」：關閉當機與良率波動，同一批貨每次跑結果完全相同，法則之間的差異純粹來自排程順序。第 10～14 頁的派工採「Lot × 機台配對」：空機接一批之前先比各台的預計完工，留給更快做完的那台。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1143000" y="310896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人力改變了最佳排程法則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896112"/>
            <a:ext cx="10424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同一批貨、同一組機台，只改工程師人數，冠軍法則就換人做——這是前面所有結論的邊界條件</a:t>
            </a:r>
            <a:endParaRPr lang="en-US" sz="1350" dirty="0"/>
          </a:p>
        </p:txBody>
      </p:sp>
      <p:pic>
        <p:nvPicPr>
          <p:cNvPr id="5" name="Image 0" descr="charts/c_engpo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335024"/>
            <a:ext cx="5394960" cy="3591134"/>
          </a:xfrm>
          <a:prstGeom prst="rect">
            <a:avLst/>
          </a:prstGeom>
        </p:spPr>
      </p:pic>
      <p:pic>
        <p:nvPicPr>
          <p:cNvPr id="6" name="Image 1" descr="charts/c_froze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2824" y="1335024"/>
            <a:ext cx="5029200" cy="3601289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66928" y="5047488"/>
            <a:ext cx="5486400" cy="1600200"/>
          </a:xfrm>
          <a:prstGeom prst="roundRect">
            <a:avLst>
              <a:gd name="adj" fmla="val 2857"/>
            </a:avLst>
          </a:prstGeom>
          <a:solidFill>
            <a:srgbClr val="F5F7F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804672" y="5303520"/>
            <a:ext cx="146304" cy="146304"/>
          </a:xfrm>
          <a:prstGeom prst="ellipse">
            <a:avLst/>
          </a:prstGeom>
          <a:solidFill>
            <a:srgbClr val="0F7B6C"/>
          </a:solidFill>
          <a:ln w="12700">
            <a:solidFill>
              <a:srgbClr val="0F7B6C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1060704" y="5202936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交叉點在 3～5 人之間</a:t>
            </a:r>
            <a:endParaRPr lang="en-US" sz="1450" dirty="0"/>
          </a:p>
        </p:txBody>
      </p:sp>
      <p:sp>
        <p:nvSpPr>
          <p:cNvPr id="10" name="Text 6"/>
          <p:cNvSpPr txBox="1"/>
          <p:nvPr/>
        </p:nvSpPr>
        <p:spPr>
          <a:xfrm>
            <a:off x="1060704" y="5559552"/>
            <a:ext cx="4754880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8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人：省改機 12.4 h 勝出，大批給快機要 18.0 h</a:t>
            </a:r>
            <a:endParaRPr lang="en-US" sz="1200" dirty="0"/>
          </a:p>
          <a:p>
            <a:pPr marL="342900" indent="-342900">
              <a:lnSpc>
                <a:spcPts val="18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人起大批給快機反超：11.1 h；10 人 9.3 h 對 12.4 h</a:t>
            </a:r>
            <a:endParaRPr lang="en-US" sz="1200" dirty="0"/>
          </a:p>
          <a:p>
            <a:pPr marL="342900" indent="-342900">
              <a:lnSpc>
                <a:spcPts val="18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人少 → 改機排隊；人多 → 閒機排隊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6172200" y="5047488"/>
            <a:ext cx="5413248" cy="1600200"/>
          </a:xfrm>
          <a:prstGeom prst="roundRect">
            <a:avLst>
              <a:gd name="adj" fmla="val 2857"/>
            </a:avLst>
          </a:prstGeom>
          <a:solidFill>
            <a:srgbClr val="F5F7F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6409944" y="5303520"/>
            <a:ext cx="146304" cy="146304"/>
          </a:xfrm>
          <a:prstGeom prst="ellipse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6665976" y="5202936"/>
            <a:ext cx="4681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為什麼省改機在人多時會輸</a:t>
            </a:r>
            <a:endParaRPr lang="en-US" sz="1450" dirty="0"/>
          </a:p>
        </p:txBody>
      </p:sp>
      <p:sp>
        <p:nvSpPr>
          <p:cNvPr id="14" name="Text 10"/>
          <p:cNvSpPr txBox="1"/>
          <p:nvPr/>
        </p:nvSpPr>
        <p:spPr>
          <a:xfrm>
            <a:off x="6665976" y="5559552"/>
            <a:ext cx="4681728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8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不換 Kit ＝ 把機台配置凍結在現況</a:t>
            </a:r>
            <a:endParaRPr lang="en-US" sz="1200" dirty="0"/>
          </a:p>
          <a:p>
            <a:pPr marL="342900" indent="-342900">
              <a:lnSpc>
                <a:spcPts val="18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這 200 批裡 QFN32 佔 38.6% 工時，卻只有 22/100 site 裝著它</a:t>
            </a:r>
            <a:endParaRPr lang="en-US" sz="1200" dirty="0"/>
          </a:p>
          <a:p>
            <a:pPr marL="342900" indent="-342900">
              <a:lnSpc>
                <a:spcPts val="18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光這一種封裝就要 7 小時，其他機台只能閒著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1143000" y="310896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機隊規模與專用機配置也會換掉答案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896112"/>
            <a:ext cx="10424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同一批 90 批 WIP，把 5 台機換成真實的 25 台機隊（機隊 100 site、10 位工程師）重跑一次</a:t>
            </a:r>
            <a:endParaRPr lang="en-US" sz="1350" dirty="0"/>
          </a:p>
        </p:txBody>
      </p:sp>
      <p:pic>
        <p:nvPicPr>
          <p:cNvPr id="5" name="Image 0" descr="charts/c_fle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316736"/>
            <a:ext cx="5029200" cy="3455545"/>
          </a:xfrm>
          <a:prstGeom prst="rect">
            <a:avLst/>
          </a:prstGeom>
        </p:spPr>
      </p:pic>
      <p:pic>
        <p:nvPicPr>
          <p:cNvPr id="6" name="Image 1" descr="charts/c_rematch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2824" y="1316736"/>
            <a:ext cx="5029200" cy="3455545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66928" y="4846320"/>
            <a:ext cx="5486400" cy="1481328"/>
          </a:xfrm>
          <a:prstGeom prst="roundRect">
            <a:avLst>
              <a:gd name="adj" fmla="val 3086"/>
            </a:avLst>
          </a:prstGeom>
          <a:solidFill>
            <a:srgbClr val="F5F7F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804672" y="5102352"/>
            <a:ext cx="146304" cy="146304"/>
          </a:xfrm>
          <a:prstGeom prst="ellipse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1060704" y="5001768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機台越多，省改機越不是答案</a:t>
            </a:r>
            <a:endParaRPr lang="en-US" sz="1450" dirty="0"/>
          </a:p>
        </p:txBody>
      </p:sp>
      <p:sp>
        <p:nvSpPr>
          <p:cNvPr id="10" name="Text 6"/>
          <p:cNvSpPr txBox="1"/>
          <p:nvPr/>
        </p:nvSpPr>
        <p:spPr>
          <a:xfrm>
            <a:off x="1060704" y="5358384"/>
            <a:ext cx="475488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8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台機：省改機 14.6 h 勝，大批給快機 29.4 h</a:t>
            </a:r>
            <a:endParaRPr lang="en-US" sz="1200" dirty="0"/>
          </a:p>
          <a:p>
            <a:pPr marL="342900" indent="-342900">
              <a:lnSpc>
                <a:spcPts val="18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台機：大批給快機 6.5 h，省改機退到 16.9 h</a:t>
            </a:r>
            <a:endParaRPr lang="en-US" sz="1200" dirty="0"/>
          </a:p>
          <a:p>
            <a:pPr marL="342900" indent="-342900">
              <a:lnSpc>
                <a:spcPts val="18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機台少 → 改機排隊；機台多 → 快機沒用滿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6172200" y="4846320"/>
            <a:ext cx="5449824" cy="1481328"/>
          </a:xfrm>
          <a:prstGeom prst="roundRect">
            <a:avLst>
              <a:gd name="adj" fmla="val 3086"/>
            </a:avLst>
          </a:prstGeom>
          <a:solidFill>
            <a:srgbClr val="F5F7F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6409944" y="5102352"/>
            <a:ext cx="146304" cy="146304"/>
          </a:xfrm>
          <a:prstGeom prst="ellipse">
            <a:avLst/>
          </a:prstGeom>
          <a:solidFill>
            <a:srgbClr val="0F7B6C"/>
          </a:solidFill>
          <a:ln w="12700">
            <a:solidFill>
              <a:srgbClr val="0F7B6C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6665976" y="5001768"/>
            <a:ext cx="47183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配置對齊買到的是容錯，不是速度</a:t>
            </a:r>
            <a:endParaRPr lang="en-US" sz="1450" dirty="0"/>
          </a:p>
        </p:txBody>
      </p:sp>
      <p:sp>
        <p:nvSpPr>
          <p:cNvPr id="14" name="Text 10"/>
          <p:cNvSpPr txBox="1"/>
          <p:nvPr/>
        </p:nvSpPr>
        <p:spPr>
          <a:xfrm>
            <a:off x="6665976" y="5358384"/>
            <a:ext cx="471830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8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最佳法則幾乎沒變：6.5 h → 6.6 h</a:t>
            </a:r>
            <a:endParaRPr lang="en-US" sz="1200" dirty="0"/>
          </a:p>
          <a:p>
            <a:pPr marL="342900" indent="-342900">
              <a:lnSpc>
                <a:spcPts val="18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最差法則大幅改善：16.9 h → 12.9 h</a:t>
            </a:r>
            <a:endParaRPr lang="en-US" sz="1200" dirty="0"/>
          </a:p>
          <a:p>
            <a:pPr marL="342900" indent="-342900">
              <a:lnSpc>
                <a:spcPts val="18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選錯法則的代價從 10.5 h 降到 6.3 h，等工程師歸零</a:t>
            </a:r>
            <a:endParaRPr lang="en-US" sz="1200" dirty="0"/>
          </a:p>
        </p:txBody>
      </p:sp>
      <p:sp>
        <p:nvSpPr>
          <p:cNvPr id="15" name="Text 11"/>
          <p:cNvSpPr txBox="1"/>
          <p:nvPr/>
        </p:nvSpPr>
        <p:spPr>
          <a:xfrm>
            <a:off x="566928" y="6382512"/>
            <a:ext cx="1105509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註　這批 WIP 的 QFN32 佔 46.5% 工時，現場卻只有 5 台專用機（22 site）裝著它，QFN48 反而有 8 台（40 site）——配置和貨量是反的。「重新對齊」＝ 機台數與 site 結構完全不動，只改 20 台專用機各自綁哪一種封裝。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1143000" y="310896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什麼時候該切換排程法則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896112"/>
            <a:ext cx="10424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四次翻轉放在同一把尺上量：改機與等工程師合計吃掉多少機台時間，門檻落在 27% 附近</a:t>
            </a:r>
            <a:endParaRPr lang="en-US" sz="1350" dirty="0"/>
          </a:p>
        </p:txBody>
      </p:sp>
      <p:pic>
        <p:nvPicPr>
          <p:cNvPr id="5" name="Image 0" descr="charts/c_swit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18488" y="1243584"/>
            <a:ext cx="8961120" cy="380466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66928" y="5138928"/>
            <a:ext cx="5486400" cy="1261872"/>
          </a:xfrm>
          <a:prstGeom prst="roundRect">
            <a:avLst>
              <a:gd name="adj" fmla="val 3623"/>
            </a:avLst>
          </a:prstGeom>
          <a:solidFill>
            <a:srgbClr val="F5F7F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04672" y="5394960"/>
            <a:ext cx="146304" cy="146304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1060704" y="5294376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怎麼量（用現場的實績，不用模擬）</a:t>
            </a:r>
            <a:endParaRPr lang="en-US" sz="1450" dirty="0"/>
          </a:p>
        </p:txBody>
      </p:sp>
      <p:sp>
        <p:nvSpPr>
          <p:cNvPr id="9" name="Text 6"/>
          <p:cNvSpPr txBox="1"/>
          <p:nvPr/>
        </p:nvSpPr>
        <p:spPr>
          <a:xfrm>
            <a:off x="1060704" y="5650992"/>
            <a:ext cx="4754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8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（改機分鐘 ＋ 等工程師分鐘）÷（機台數 × 當班分鐘）</a:t>
            </a:r>
            <a:endParaRPr lang="en-US" sz="1200" dirty="0"/>
          </a:p>
          <a:p>
            <a:pPr marL="342900" indent="-342900">
              <a:lnSpc>
                <a:spcPts val="18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用「切換前」的排程量一次就好，現場稼動報表就有這兩欄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172200" y="5138928"/>
            <a:ext cx="5449824" cy="1261872"/>
          </a:xfrm>
          <a:prstGeom prst="roundRect">
            <a:avLst>
              <a:gd name="adj" fmla="val 3623"/>
            </a:avLst>
          </a:prstGeom>
          <a:solidFill>
            <a:srgbClr val="F5F7F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409944" y="5394960"/>
            <a:ext cx="146304" cy="146304"/>
          </a:xfrm>
          <a:prstGeom prst="ellipse">
            <a:avLst/>
          </a:prstGeom>
          <a:solidFill>
            <a:srgbClr val="0F7B6C"/>
          </a:solidFill>
          <a:ln w="12700">
            <a:solidFill>
              <a:srgbClr val="0F7B6C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665976" y="5294376"/>
            <a:ext cx="47183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怎麼判斷</a:t>
            </a:r>
            <a:endParaRPr lang="en-US" sz="1450" dirty="0"/>
          </a:p>
        </p:txBody>
      </p:sp>
      <p:sp>
        <p:nvSpPr>
          <p:cNvPr id="13" name="Text 10"/>
          <p:cNvSpPr txBox="1"/>
          <p:nvPr/>
        </p:nvSpPr>
        <p:spPr>
          <a:xfrm>
            <a:off x="6665976" y="5650992"/>
            <a:ext cx="471830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8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＞28% 省改機優先；＜27% 大批給快機，11 組全對</a:t>
            </a:r>
            <a:endParaRPr lang="en-US" sz="1200" dirty="0"/>
          </a:p>
          <a:p>
            <a:pPr marL="342900" indent="-342900">
              <a:lnSpc>
                <a:spcPts val="18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25～30% 先用加權綜合（10 組裡 5 組最快、8 組前三）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566928" y="6437376"/>
            <a:ext cx="1105509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註　① 兩項要合計才準：5 台機那三組是改機吃掉 28～29%（等人只有 0～1%），25 台機 200 批 3 人那組反過來是等人吃掉 32%（改機只有 10%）——只看一項會判錯。② 全部以現行的「追交期」排程量測。③ 切換到省改機之後這個數字會自己掉下來（43.3% → 27.5%），那是措施生效，不是要你切回去。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1143000" y="310896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治具（Kit）套數會換掉冠軍法則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896112"/>
            <a:ext cx="10424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同一份 200 批 WIP、同一組 25 台機、同樣 10 位工程師，只改變「每種封裝有幾套治具」（本頁套數為假設值，見註）</a:t>
            </a:r>
            <a:endParaRPr lang="en-US" sz="1350" dirty="0"/>
          </a:p>
        </p:txBody>
      </p:sp>
      <p:pic>
        <p:nvPicPr>
          <p:cNvPr id="5" name="Image 0" descr="charts/c_ki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280160"/>
            <a:ext cx="5029200" cy="3347667"/>
          </a:xfrm>
          <a:prstGeom prst="rect">
            <a:avLst/>
          </a:prstGeom>
        </p:spPr>
      </p:pic>
      <p:pic>
        <p:nvPicPr>
          <p:cNvPr id="6" name="Image 1" descr="charts/c_kitdelt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2824" y="1280160"/>
            <a:ext cx="5029200" cy="3151128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66928" y="4754880"/>
            <a:ext cx="5486400" cy="1481328"/>
          </a:xfrm>
          <a:prstGeom prst="roundRect">
            <a:avLst>
              <a:gd name="adj" fmla="val 3086"/>
            </a:avLst>
          </a:prstGeom>
          <a:solidFill>
            <a:srgbClr val="F5F7F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804672" y="5010912"/>
            <a:ext cx="146304" cy="146304"/>
          </a:xfrm>
          <a:prstGeom prst="ellipse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1060704" y="4910328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治具一變少，冠軍就換人</a:t>
            </a:r>
            <a:endParaRPr lang="en-US" sz="1450" dirty="0"/>
          </a:p>
        </p:txBody>
      </p:sp>
      <p:sp>
        <p:nvSpPr>
          <p:cNvPr id="10" name="Text 6"/>
          <p:cNvSpPr txBox="1"/>
          <p:nvPr/>
        </p:nvSpPr>
        <p:spPr>
          <a:xfrm>
            <a:off x="1060704" y="5266944"/>
            <a:ext cx="475488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8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不限量：大批給快機 9.3 h 最快</a:t>
            </a:r>
            <a:endParaRPr lang="en-US" sz="1200" dirty="0"/>
          </a:p>
          <a:p>
            <a:pPr marL="342900" indent="-342900">
              <a:lnSpc>
                <a:spcPts val="18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沒有備品：省改機 10.1 h 反而最快</a:t>
            </a:r>
            <a:endParaRPr lang="en-US" sz="1200" dirty="0"/>
          </a:p>
          <a:p>
            <a:pPr marL="342900" indent="-342900">
              <a:lnSpc>
                <a:spcPts val="18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每種 2 套：七種法則全落到 18～32 h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6172200" y="4754880"/>
            <a:ext cx="5449824" cy="1481328"/>
          </a:xfrm>
          <a:prstGeom prst="roundRect">
            <a:avLst>
              <a:gd name="adj" fmla="val 3086"/>
            </a:avLst>
          </a:prstGeom>
          <a:solidFill>
            <a:srgbClr val="F5F7F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6409944" y="5010912"/>
            <a:ext cx="146304" cy="146304"/>
          </a:xfrm>
          <a:prstGeom prst="ellipse">
            <a:avLst/>
          </a:prstGeom>
          <a:solidFill>
            <a:srgbClr val="9B1C1C"/>
          </a:solidFill>
          <a:ln w="12700">
            <a:solidFill>
              <a:srgbClr val="9B1C1C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6665976" y="4910328"/>
            <a:ext cx="47183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少一套治具，多數法則多花 3～4 小時</a:t>
            </a:r>
            <a:endParaRPr lang="en-US" sz="1450" dirty="0"/>
          </a:p>
        </p:txBody>
      </p:sp>
      <p:sp>
        <p:nvSpPr>
          <p:cNvPr id="14" name="Text 10"/>
          <p:cNvSpPr txBox="1"/>
          <p:nvPr/>
        </p:nvSpPr>
        <p:spPr>
          <a:xfrm>
            <a:off x="6665976" y="5266944"/>
            <a:ext cx="471830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8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加權綜合 +3.9 h、FIFO +3.7 h、EDD +3.4 h</a:t>
            </a:r>
            <a:endParaRPr lang="en-US" sz="1200" dirty="0"/>
          </a:p>
          <a:p>
            <a:pPr marL="342900" indent="-342900">
              <a:lnSpc>
                <a:spcPts val="18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等治具 325～785 分：誰先拿到治具決定誰等</a:t>
            </a:r>
            <a:endParaRPr lang="en-US" sz="1200" dirty="0"/>
          </a:p>
          <a:p>
            <a:pPr marL="342900" indent="-342900">
              <a:lnSpc>
                <a:spcPts val="18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省改機反而快 2.3 h：它本來就串同治具</a:t>
            </a:r>
            <a:endParaRPr lang="en-US" sz="1200" dirty="0"/>
          </a:p>
        </p:txBody>
      </p:sp>
      <p:sp>
        <p:nvSpPr>
          <p:cNvPr id="15" name="Text 11"/>
          <p:cNvSpPr txBox="1"/>
          <p:nvPr/>
        </p:nvSpPr>
        <p:spPr>
          <a:xfrm>
            <a:off x="566928" y="6272784"/>
            <a:ext cx="110550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5A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註　① 本頁治具套數是假設值：「沒有備品」＝ 每種封裝的套數剛好等於現在裝著它的機台數，「每種只有 2 套」是壓力測試；要得到可用的結論，請填入實際套數（資料檔「配件」分頁）。② 模型規則：機台閒置、且佇列裡沒有同封裝的貨時，身上的治具可被別台拿走。③ 省改機變快不是因為治具變少——是治具限制逼派工分散到已經裝著該治具的機台：換 Kit 5 次降到 2 次、稼動率 40.8% 升到 46.9%；同一組設定下其他法則多花 3～4 h。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E1A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1143000" y="310896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專業建議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896112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依「投入成本 → 效益」排序，前兩項不需任何資本支出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66928" y="1417320"/>
            <a:ext cx="11018520" cy="1051560"/>
          </a:xfrm>
          <a:prstGeom prst="roundRect">
            <a:avLst>
              <a:gd name="adj" fmla="val 4348"/>
            </a:avLst>
          </a:prstGeom>
          <a:solidFill>
            <a:srgbClr val="17254C"/>
          </a:solidFill>
          <a:ln w="12700">
            <a:solidFill>
              <a:srgbClr val="17254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41248" y="1728216"/>
            <a:ext cx="429768" cy="429768"/>
          </a:xfrm>
          <a:prstGeom prst="ellipse">
            <a:avLst/>
          </a:prstGeom>
          <a:solidFill>
            <a:srgbClr val="0F7B6C"/>
          </a:solidFill>
          <a:ln w="12700">
            <a:solidFill>
              <a:srgbClr val="0F7B6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41248" y="1764792"/>
            <a:ext cx="429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481328" y="1600200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排程法則改為「省改機優先」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1481328" y="1984248"/>
            <a:ext cx="6583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9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同機種串著跑，工程師被釋放後全廠少等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8321040" y="1728216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900" b="1" dirty="0">
                <a:solidFill>
                  <a:srgbClr val="0F7B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+41 萬顆／日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566928" y="2587752"/>
            <a:ext cx="11018520" cy="1051560"/>
          </a:xfrm>
          <a:prstGeom prst="roundRect">
            <a:avLst>
              <a:gd name="adj" fmla="val 4348"/>
            </a:avLst>
          </a:prstGeom>
          <a:solidFill>
            <a:srgbClr val="17254C"/>
          </a:solidFill>
          <a:ln w="12700">
            <a:solidFill>
              <a:srgbClr val="17254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41248" y="2898648"/>
            <a:ext cx="429768" cy="429768"/>
          </a:xfrm>
          <a:prstGeom prst="ellipse">
            <a:avLst/>
          </a:prstGeom>
          <a:solidFill>
            <a:srgbClr val="0F7B6C"/>
          </a:solidFill>
          <a:ln w="12700">
            <a:solidFill>
              <a:srgbClr val="0F7B6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41248" y="2935224"/>
            <a:ext cx="429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481328" y="2770632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派工單不提前開，做完當下才決定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1481328" y="3154680"/>
            <a:ext cx="6583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9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取消預先押批，改為即時派工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8321040" y="2898648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900" b="1" dirty="0">
                <a:solidFill>
                  <a:srgbClr val="0F7B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+21 萬顆／日</a:t>
            </a:r>
            <a:endParaRPr lang="en-US" sz="1900" dirty="0"/>
          </a:p>
        </p:txBody>
      </p:sp>
      <p:sp>
        <p:nvSpPr>
          <p:cNvPr id="17" name="Shape 15"/>
          <p:cNvSpPr/>
          <p:nvPr/>
        </p:nvSpPr>
        <p:spPr>
          <a:xfrm>
            <a:off x="566928" y="3758184"/>
            <a:ext cx="11018520" cy="1051560"/>
          </a:xfrm>
          <a:prstGeom prst="roundRect">
            <a:avLst>
              <a:gd name="adj" fmla="val 4348"/>
            </a:avLst>
          </a:prstGeom>
          <a:solidFill>
            <a:srgbClr val="17254C"/>
          </a:solidFill>
          <a:ln w="12700">
            <a:solidFill>
              <a:srgbClr val="17254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41248" y="4069080"/>
            <a:ext cx="429768" cy="429768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41248" y="4105656"/>
            <a:ext cx="429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1481328" y="3941064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工程師由 8 人補至 10 人（1:2.5）</a:t>
            </a:r>
            <a:endParaRPr lang="en-US" sz="1700" dirty="0"/>
          </a:p>
        </p:txBody>
      </p:sp>
      <p:sp>
        <p:nvSpPr>
          <p:cNvPr id="21" name="Text 19"/>
          <p:cNvSpPr txBox="1"/>
          <p:nvPr/>
        </p:nvSpPr>
        <p:spPr>
          <a:xfrm>
            <a:off x="1481328" y="4325112"/>
            <a:ext cx="6583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9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人時有 14.4% 的機台時間在停等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8321040" y="406908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9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+7 萬顆／日</a:t>
            </a:r>
            <a:endParaRPr lang="en-US" sz="1900" dirty="0"/>
          </a:p>
        </p:txBody>
      </p:sp>
      <p:sp>
        <p:nvSpPr>
          <p:cNvPr id="23" name="Shape 21"/>
          <p:cNvSpPr/>
          <p:nvPr/>
        </p:nvSpPr>
        <p:spPr>
          <a:xfrm>
            <a:off x="566928" y="4928616"/>
            <a:ext cx="11018520" cy="1051560"/>
          </a:xfrm>
          <a:prstGeom prst="roundRect">
            <a:avLst>
              <a:gd name="adj" fmla="val 4348"/>
            </a:avLst>
          </a:prstGeom>
          <a:solidFill>
            <a:srgbClr val="17254C"/>
          </a:solidFill>
          <a:ln w="12700">
            <a:solidFill>
              <a:srgbClr val="17254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41248" y="5239512"/>
            <a:ext cx="429768" cy="429768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41248" y="5276088"/>
            <a:ext cx="429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1481328" y="5111496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縮短換程式時間 30→15 分</a:t>
            </a:r>
            <a:endParaRPr lang="en-US" sz="1700" dirty="0"/>
          </a:p>
        </p:txBody>
      </p:sp>
      <p:sp>
        <p:nvSpPr>
          <p:cNvPr id="27" name="Text 25"/>
          <p:cNvSpPr txBox="1"/>
          <p:nvPr/>
        </p:nvSpPr>
        <p:spPr>
          <a:xfrm>
            <a:off x="1481328" y="5495544"/>
            <a:ext cx="6583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9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一天 213 次，槓桿最大的工程改善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8321040" y="5239512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9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+3 萬顆／日</a:t>
            </a:r>
            <a:endParaRPr lang="en-US" sz="1900" dirty="0"/>
          </a:p>
        </p:txBody>
      </p:sp>
      <p:sp>
        <p:nvSpPr>
          <p:cNvPr id="29" name="Text 27"/>
          <p:cNvSpPr txBox="1"/>
          <p:nvPr/>
        </p:nvSpPr>
        <p:spPr>
          <a:xfrm>
            <a:off x="566928" y="6035040"/>
            <a:ext cx="11018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四項全做：每日良品 77 萬 → 148 萬顆（+93%），逾期批數 220 批 → 2 批以下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566928" y="6345936"/>
            <a:ext cx="11018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A9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但第 1 項有前提：省改機是「改機＋等工程師吃掉機台時間超過 28%」時的最佳解；低於 27% 就該改用「大批給快機」，靠近門檻時用「加權綜合」（見第 13 頁）。班別與機隊狀況不同，規則就該不同。</a:t>
            </a:r>
            <a:endParaRPr lang="en-US" sz="11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1143000" y="310896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實施路徑、追蹤指標與模型限制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896112"/>
            <a:ext cx="10424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建議以四週為一個驗證循環，每一步都有可量測的指標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66928" y="1417320"/>
            <a:ext cx="2670048" cy="2395728"/>
          </a:xfrm>
          <a:prstGeom prst="roundRect">
            <a:avLst>
              <a:gd name="adj" fmla="val 1908"/>
            </a:avLst>
          </a:prstGeom>
          <a:solidFill>
            <a:srgbClr val="F5F7F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95528" y="1609344"/>
            <a:ext cx="420624" cy="420624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95528" y="1655064"/>
            <a:ext cx="4206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795528" y="2139696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1–2 週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795528" y="2414016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凍結預先派工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795528" y="2798064"/>
            <a:ext cx="2240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改為機台做完才派下一批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795528" y="3200400"/>
            <a:ext cx="2240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A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追蹤：逾期批數／日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419856" y="1417320"/>
            <a:ext cx="2670048" cy="2395728"/>
          </a:xfrm>
          <a:prstGeom prst="roundRect">
            <a:avLst>
              <a:gd name="adj" fmla="val 1908"/>
            </a:avLst>
          </a:prstGeom>
          <a:solidFill>
            <a:srgbClr val="F5F7F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48456" y="1609344"/>
            <a:ext cx="420624" cy="420624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648456" y="1655064"/>
            <a:ext cx="4206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3648456" y="2139696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3–4 週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3648456" y="2414016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導入省改機排序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3648456" y="2798064"/>
            <a:ext cx="2240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同 Kit 同程式的批優先串接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3648456" y="3200400"/>
            <a:ext cx="2240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A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追蹤：每台每日改機分鐘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272784" y="1417320"/>
            <a:ext cx="2670048" cy="2395728"/>
          </a:xfrm>
          <a:prstGeom prst="roundRect">
            <a:avLst>
              <a:gd name="adj" fmla="val 1908"/>
            </a:avLst>
          </a:prstGeom>
          <a:solidFill>
            <a:srgbClr val="F5F7F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501384" y="1609344"/>
            <a:ext cx="420624" cy="420624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501384" y="1655064"/>
            <a:ext cx="4206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6501384" y="2139696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5–8 週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6501384" y="2414016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人力補至 10 人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6501384" y="2798064"/>
            <a:ext cx="2240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或重新分配現有工程師班別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6501384" y="3200400"/>
            <a:ext cx="2240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A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追蹤：等工程師時間占比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9125712" y="1417320"/>
            <a:ext cx="2670048" cy="2395728"/>
          </a:xfrm>
          <a:prstGeom prst="roundRect">
            <a:avLst>
              <a:gd name="adj" fmla="val 1908"/>
            </a:avLst>
          </a:prstGeom>
          <a:solidFill>
            <a:srgbClr val="F5F7F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354312" y="1609344"/>
            <a:ext cx="420624" cy="420624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9354312" y="1655064"/>
            <a:ext cx="4206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9354312" y="2139696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9 週起</a:t>
            </a:r>
            <a:endParaRPr lang="en-US" sz="1150" dirty="0"/>
          </a:p>
        </p:txBody>
      </p:sp>
      <p:sp>
        <p:nvSpPr>
          <p:cNvPr id="30" name="Text 28"/>
          <p:cNvSpPr txBox="1"/>
          <p:nvPr/>
        </p:nvSpPr>
        <p:spPr>
          <a:xfrm>
            <a:off x="9354312" y="2414016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換程式標準化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9354312" y="2798064"/>
            <a:ext cx="2240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程式預載、遠端下載、recipe 統一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9354312" y="3200400"/>
            <a:ext cx="2240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A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追蹤：（改機＋等人）÷ 機台時間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66928" y="3968496"/>
            <a:ext cx="5486400" cy="2157984"/>
          </a:xfrm>
          <a:prstGeom prst="roundRect">
            <a:avLst>
              <a:gd name="adj" fmla="val 2119"/>
            </a:avLst>
          </a:prstGeom>
          <a:solidFill>
            <a:srgbClr val="F5F7F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04672" y="4224528"/>
            <a:ext cx="146304" cy="146304"/>
          </a:xfrm>
          <a:prstGeom prst="ellipse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1060704" y="4123944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模型尚未納入（避免過度外推）</a:t>
            </a:r>
            <a:endParaRPr lang="en-US" sz="1450" dirty="0"/>
          </a:p>
        </p:txBody>
      </p:sp>
      <p:sp>
        <p:nvSpPr>
          <p:cNvPr id="36" name="Text 34"/>
          <p:cNvSpPr txBox="1"/>
          <p:nvPr/>
        </p:nvSpPr>
        <p:spPr>
          <a:xfrm>
            <a:off x="1060704" y="4480560"/>
            <a:ext cx="47548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8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人員技能差異與交接班</a:t>
            </a:r>
            <a:endParaRPr lang="en-US" sz="1200" dirty="0"/>
          </a:p>
          <a:p>
            <a:pPr marL="342900" indent="-342900">
              <a:lnSpc>
                <a:spcPts val="18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Handler 數量限制（治具已納入，見第 14 頁）</a:t>
            </a:r>
            <a:endParaRPr lang="en-US" sz="1200" dirty="0"/>
          </a:p>
          <a:p>
            <a:pPr marL="342900" indent="-342900">
              <a:lnSpc>
                <a:spcPts val="18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物料搬運與 WIP 暫存空間限制</a:t>
            </a:r>
            <a:endParaRPr lang="en-US" sz="1200" dirty="0"/>
          </a:p>
          <a:p>
            <a:pPr marL="342900" indent="-342900">
              <a:lnSpc>
                <a:spcPts val="18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同一機台多產品混測（假設一次一批）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6172200" y="3968496"/>
            <a:ext cx="5413248" cy="2157984"/>
          </a:xfrm>
          <a:prstGeom prst="roundRect">
            <a:avLst>
              <a:gd name="adj" fmla="val 2119"/>
            </a:avLst>
          </a:prstGeom>
          <a:solidFill>
            <a:srgbClr val="F5F7F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409944" y="4224528"/>
            <a:ext cx="146304" cy="146304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6665976" y="4123944"/>
            <a:ext cx="4681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建議補充的現場數據</a:t>
            </a:r>
            <a:endParaRPr lang="en-US" sz="1450" dirty="0"/>
          </a:p>
        </p:txBody>
      </p:sp>
      <p:sp>
        <p:nvSpPr>
          <p:cNvPr id="40" name="Text 38"/>
          <p:cNvSpPr txBox="1"/>
          <p:nvPr/>
        </p:nvSpPr>
        <p:spPr>
          <a:xfrm>
            <a:off x="6665976" y="4480560"/>
            <a:ext cx="468172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8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實際 Kit 套數（第 14 頁為假設值）</a:t>
            </a:r>
            <a:endParaRPr lang="en-US" sz="1200" dirty="0"/>
          </a:p>
          <a:p>
            <a:pPr marL="342900" indent="-342900">
              <a:lnSpc>
                <a:spcPts val="18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實際 WIP 清單（第 10~14 頁為模擬資料）</a:t>
            </a:r>
            <a:endParaRPr lang="en-US" sz="1200" dirty="0"/>
          </a:p>
          <a:p>
            <a:pPr marL="342900" indent="-342900">
              <a:lnSpc>
                <a:spcPts val="18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每台機日完成批數（核對稼動率 46.7%）</a:t>
            </a:r>
            <a:endParaRPr lang="en-US" sz="1200" dirty="0"/>
          </a:p>
          <a:p>
            <a:pPr marL="342900" indent="-342900">
              <a:lnSpc>
                <a:spcPts val="18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逾期一批違約成本（現以 20,000 代入）</a:t>
            </a:r>
            <a:endParaRPr lang="en-US" sz="1200" dirty="0"/>
          </a:p>
          <a:p>
            <a:pPr marL="342900" indent="-342900">
              <a:lnSpc>
                <a:spcPts val="18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換程式是否由工程師執行（若否人力可降 5～6 人）</a:t>
            </a:r>
            <a:endParaRPr lang="en-US" sz="1200" dirty="0"/>
          </a:p>
        </p:txBody>
      </p:sp>
      <p:sp>
        <p:nvSpPr>
          <p:cNvPr id="41" name="Text 39"/>
          <p:cNvSpPr txBox="1"/>
          <p:nvPr/>
        </p:nvSpPr>
        <p:spPr>
          <a:xfrm>
            <a:off x="566928" y="6217920"/>
            <a:ext cx="11018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一句話總結　產出的瓶頸不是機台，是改機與工程師；而排程方式決定了這兩者被浪費多少。　驗證用模擬器：cnshow2025.github.io/my-factory（參數組選「我的工廠」）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測試排程分析報告</dc:title>
  <dc:subject>PptxGenJS Presentation</dc:subject>
  <dc:creator>MyFactory 排程模擬</dc:creator>
  <cp:lastModifiedBy>MyFactory 排程模擬</cp:lastModifiedBy>
  <cp:revision>1</cp:revision>
  <dcterms:created xsi:type="dcterms:W3CDTF">2026-10-04T13:53:11Z</dcterms:created>
  <dcterms:modified xsi:type="dcterms:W3CDTF">2026-10-04T13:53:11Z</dcterms:modified>
</cp:coreProperties>
</file>